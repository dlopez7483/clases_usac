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3" r:id="rId5"/>
    <p:sldMasterId id="214748366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B425C0E-A0F8-4B4E-8F16-E74B422D3FE0}">
  <a:tblStyle styleId="{DB425C0E-A0F8-4B4E-8F16-E74B422D3FE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5f069aa0ed_2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5f069aa0ed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5f069aa0ed_2_0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1c14c1c776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1c14c1c7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21c14c1c776_0_0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1c14c1c776_0_12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1c14c1c77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1c14c1c776_0_16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1c14c1c77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1c14c1c776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1c14c1c77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21c14c1c776_0_6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1c14c1c776_0_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1c14c1c776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21c14c1c776_0_70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 txBox="1"/>
          <p:nvPr>
            <p:ph type="ctrTitle"/>
          </p:nvPr>
        </p:nvSpPr>
        <p:spPr>
          <a:xfrm>
            <a:off x="1130595" y="2404534"/>
            <a:ext cx="5826719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" name="Google Shape;28;p2"/>
          <p:cNvSpPr txBox="1"/>
          <p:nvPr>
            <p:ph idx="1" type="subTitle"/>
          </p:nvPr>
        </p:nvSpPr>
        <p:spPr>
          <a:xfrm>
            <a:off x="1130595" y="4050834"/>
            <a:ext cx="5826719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  <a:defRPr b="0" i="0" sz="1800" u="none" cap="none" strike="noStrik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ct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ct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ct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  <a:defRPr b="0" i="0" sz="12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ct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  <a:defRPr b="0" i="0" sz="12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ct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  <a:defRPr b="0" i="0" sz="12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ct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  <a:defRPr b="0" i="0" sz="12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ct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  <a:defRPr b="0" i="0" sz="12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ct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  <a:defRPr b="0" i="0" sz="12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9" name="Google Shape;29;p2"/>
          <p:cNvSpPr txBox="1"/>
          <p:nvPr>
            <p:ph idx="10" type="dt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2"/>
          <p:cNvSpPr txBox="1"/>
          <p:nvPr>
            <p:ph idx="11" type="ftr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2"/>
          <p:cNvSpPr txBox="1"/>
          <p:nvPr>
            <p:ph idx="12" type="sldNum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 txBox="1"/>
          <p:nvPr>
            <p:ph type="title"/>
          </p:nvPr>
        </p:nvSpPr>
        <p:spPr>
          <a:xfrm>
            <a:off x="609598" y="2700868"/>
            <a:ext cx="6347715" cy="1826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1" name="Google Shape;51;p4"/>
          <p:cNvSpPr txBox="1"/>
          <p:nvPr>
            <p:ph idx="1" type="body"/>
          </p:nvPr>
        </p:nvSpPr>
        <p:spPr>
          <a:xfrm>
            <a:off x="609598" y="4527448"/>
            <a:ext cx="6347715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2000" u="none" cap="none" strike="noStrik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  <a:defRPr b="0" i="0" sz="18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286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286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286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286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286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286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286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52" name="Google Shape;52;p4"/>
          <p:cNvSpPr txBox="1"/>
          <p:nvPr>
            <p:ph idx="10" type="dt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4"/>
          <p:cNvSpPr txBox="1"/>
          <p:nvPr>
            <p:ph idx="11" type="ftr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4"/>
          <p:cNvSpPr txBox="1"/>
          <p:nvPr>
            <p:ph idx="12" type="sldNum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/>
          <p:nvPr>
            <p:ph type="title"/>
          </p:nvPr>
        </p:nvSpPr>
        <p:spPr>
          <a:xfrm>
            <a:off x="609600" y="609600"/>
            <a:ext cx="6347714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idx="1" type="body"/>
          </p:nvPr>
        </p:nvSpPr>
        <p:spPr>
          <a:xfrm>
            <a:off x="609600" y="2160589"/>
            <a:ext cx="3088109" cy="3880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▶"/>
              <a:defRPr b="0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▶"/>
              <a:defRPr b="0" i="0" sz="16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9719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▶"/>
              <a:defRPr b="0" i="0" sz="14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89559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89559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58" name="Google Shape;58;p5"/>
          <p:cNvSpPr txBox="1"/>
          <p:nvPr>
            <p:ph idx="2" type="body"/>
          </p:nvPr>
        </p:nvSpPr>
        <p:spPr>
          <a:xfrm>
            <a:off x="3869204" y="2160590"/>
            <a:ext cx="3088110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▶"/>
              <a:defRPr b="0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▶"/>
              <a:defRPr b="0" i="0" sz="16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9719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▶"/>
              <a:defRPr b="0" i="0" sz="14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89559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89559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59" name="Google Shape;59;p5"/>
          <p:cNvSpPr txBox="1"/>
          <p:nvPr>
            <p:ph idx="10" type="dt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5"/>
          <p:cNvSpPr txBox="1"/>
          <p:nvPr>
            <p:ph idx="11" type="ftr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5"/>
          <p:cNvSpPr txBox="1"/>
          <p:nvPr>
            <p:ph idx="12" type="sldNum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/>
          <p:nvPr>
            <p:ph type="title"/>
          </p:nvPr>
        </p:nvSpPr>
        <p:spPr>
          <a:xfrm>
            <a:off x="609600" y="609600"/>
            <a:ext cx="6348412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4" name="Google Shape;64;p6"/>
          <p:cNvSpPr txBox="1"/>
          <p:nvPr>
            <p:ph idx="1" type="body"/>
          </p:nvPr>
        </p:nvSpPr>
        <p:spPr>
          <a:xfrm>
            <a:off x="609600" y="2160587"/>
            <a:ext cx="6348412" cy="388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▶"/>
              <a:defRPr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▶"/>
              <a:defRPr b="0" i="0" sz="16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9719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▶"/>
              <a:defRPr b="0" i="0" sz="14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89559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89559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65" name="Google Shape;65;p6"/>
          <p:cNvSpPr txBox="1"/>
          <p:nvPr>
            <p:ph idx="10" type="dt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6"/>
          <p:cNvSpPr txBox="1"/>
          <p:nvPr>
            <p:ph idx="11" type="ftr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6"/>
          <p:cNvSpPr txBox="1"/>
          <p:nvPr>
            <p:ph idx="12" type="sldNum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/>
          <p:cNvSpPr txBox="1"/>
          <p:nvPr>
            <p:ph type="title"/>
          </p:nvPr>
        </p:nvSpPr>
        <p:spPr>
          <a:xfrm>
            <a:off x="609599" y="1498604"/>
            <a:ext cx="2790182" cy="12784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0" name="Google Shape;70;p7"/>
          <p:cNvSpPr txBox="1"/>
          <p:nvPr>
            <p:ph idx="1" type="body"/>
          </p:nvPr>
        </p:nvSpPr>
        <p:spPr>
          <a:xfrm>
            <a:off x="3571275" y="514925"/>
            <a:ext cx="3386037" cy="5526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▶"/>
              <a:defRPr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▶"/>
              <a:defRPr b="0" i="0" sz="16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9719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▶"/>
              <a:defRPr b="0" i="0" sz="14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89559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89559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71" name="Google Shape;71;p7"/>
          <p:cNvSpPr txBox="1"/>
          <p:nvPr>
            <p:ph idx="2" type="body"/>
          </p:nvPr>
        </p:nvSpPr>
        <p:spPr>
          <a:xfrm>
            <a:off x="609599" y="2777069"/>
            <a:ext cx="2790182" cy="2584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sz="14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None/>
              <a:defRPr b="0" i="0" sz="105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286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286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b="0" i="0" sz="75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286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b="0" i="0" sz="75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286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b="0" i="0" sz="75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286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b="0" i="0" sz="75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286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b="0" i="0" sz="75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286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b="0" i="0" sz="75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72" name="Google Shape;72;p7"/>
          <p:cNvSpPr txBox="1"/>
          <p:nvPr>
            <p:ph idx="10" type="dt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7"/>
          <p:cNvSpPr txBox="1"/>
          <p:nvPr>
            <p:ph idx="11" type="ftr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7"/>
          <p:cNvSpPr txBox="1"/>
          <p:nvPr>
            <p:ph idx="12" type="sldNum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"/>
          <p:cNvSpPr txBox="1"/>
          <p:nvPr>
            <p:ph type="title"/>
          </p:nvPr>
        </p:nvSpPr>
        <p:spPr>
          <a:xfrm rot="5400000">
            <a:off x="3840993" y="2745919"/>
            <a:ext cx="5251451" cy="978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7" name="Google Shape;77;p8"/>
          <p:cNvSpPr txBox="1"/>
          <p:nvPr>
            <p:ph idx="1" type="body"/>
          </p:nvPr>
        </p:nvSpPr>
        <p:spPr>
          <a:xfrm rot="5400000">
            <a:off x="581386" y="637812"/>
            <a:ext cx="5251451" cy="51950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▶"/>
              <a:defRPr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▶"/>
              <a:defRPr b="0" i="0" sz="16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9719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▶"/>
              <a:defRPr b="0" i="0" sz="14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89559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89559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78" name="Google Shape;78;p8"/>
          <p:cNvSpPr txBox="1"/>
          <p:nvPr>
            <p:ph idx="10" type="dt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p8"/>
          <p:cNvSpPr txBox="1"/>
          <p:nvPr>
            <p:ph idx="11" type="ftr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8"/>
          <p:cNvSpPr txBox="1"/>
          <p:nvPr>
            <p:ph idx="12" type="sldNum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9"/>
          <p:cNvSpPr txBox="1"/>
          <p:nvPr>
            <p:ph type="title"/>
          </p:nvPr>
        </p:nvSpPr>
        <p:spPr>
          <a:xfrm>
            <a:off x="609600" y="609600"/>
            <a:ext cx="6348412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" name="Google Shape;83;p9"/>
          <p:cNvSpPr txBox="1"/>
          <p:nvPr>
            <p:ph idx="1" type="body"/>
          </p:nvPr>
        </p:nvSpPr>
        <p:spPr>
          <a:xfrm rot="5400000">
            <a:off x="1843087" y="927099"/>
            <a:ext cx="3881437" cy="6348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▶"/>
              <a:defRPr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▶"/>
              <a:defRPr b="0" i="0" sz="16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9719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▶"/>
              <a:defRPr b="0" i="0" sz="14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89559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89559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84" name="Google Shape;84;p9"/>
          <p:cNvSpPr txBox="1"/>
          <p:nvPr>
            <p:ph idx="10" type="dt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9"/>
          <p:cNvSpPr txBox="1"/>
          <p:nvPr>
            <p:ph idx="11" type="ftr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9"/>
          <p:cNvSpPr txBox="1"/>
          <p:nvPr>
            <p:ph idx="12" type="sldNum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/>
          <p:cNvSpPr txBox="1"/>
          <p:nvPr>
            <p:ph type="title"/>
          </p:nvPr>
        </p:nvSpPr>
        <p:spPr>
          <a:xfrm>
            <a:off x="615848" y="609600"/>
            <a:ext cx="6341465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9" name="Google Shape;89;p10"/>
          <p:cNvSpPr txBox="1"/>
          <p:nvPr>
            <p:ph idx="1" type="body"/>
          </p:nvPr>
        </p:nvSpPr>
        <p:spPr>
          <a:xfrm>
            <a:off x="609597" y="4013200"/>
            <a:ext cx="6347716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  <a:defRPr sz="24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286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286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  <a:defRPr b="0" i="0" sz="12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286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  <a:defRPr b="0" i="0" sz="12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89559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89559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90" name="Google Shape;90;p10"/>
          <p:cNvSpPr txBox="1"/>
          <p:nvPr>
            <p:ph idx="2" type="body"/>
          </p:nvPr>
        </p:nvSpPr>
        <p:spPr>
          <a:xfrm>
            <a:off x="609598" y="4527448"/>
            <a:ext cx="6347715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  <a:defRPr sz="1800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  <a:defRPr b="0" i="0" sz="18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286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286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286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286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286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286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286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91" name="Google Shape;91;p10"/>
          <p:cNvSpPr txBox="1"/>
          <p:nvPr>
            <p:ph idx="10" type="dt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" name="Google Shape;92;p10"/>
          <p:cNvSpPr txBox="1"/>
          <p:nvPr>
            <p:ph idx="11" type="ftr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10"/>
          <p:cNvSpPr txBox="1"/>
          <p:nvPr>
            <p:ph idx="12" type="sldNum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1"/>
          <p:cNvSpPr txBox="1"/>
          <p:nvPr>
            <p:ph type="title"/>
          </p:nvPr>
        </p:nvSpPr>
        <p:spPr>
          <a:xfrm>
            <a:off x="609598" y="1931988"/>
            <a:ext cx="6347715" cy="25954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6" name="Google Shape;96;p11"/>
          <p:cNvSpPr txBox="1"/>
          <p:nvPr>
            <p:ph idx="1" type="body"/>
          </p:nvPr>
        </p:nvSpPr>
        <p:spPr>
          <a:xfrm>
            <a:off x="609598" y="4527448"/>
            <a:ext cx="6347715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  <a:defRPr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  <a:defRPr b="0" i="0" sz="18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286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286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286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286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286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286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286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10" type="dt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11"/>
          <p:cNvSpPr txBox="1"/>
          <p:nvPr>
            <p:ph idx="11" type="ftr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p11"/>
          <p:cNvSpPr txBox="1"/>
          <p:nvPr>
            <p:ph idx="12" type="sldNum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"/>
          <p:cNvSpPr txBox="1"/>
          <p:nvPr>
            <p:ph type="title"/>
          </p:nvPr>
        </p:nvSpPr>
        <p:spPr>
          <a:xfrm>
            <a:off x="609600" y="609600"/>
            <a:ext cx="6347714" cy="34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609600" y="4470400"/>
            <a:ext cx="6347714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  <a:defRPr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  <a:defRPr b="0" i="0" sz="18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286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286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286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286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286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286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286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03" name="Google Shape;103;p12"/>
          <p:cNvSpPr txBox="1"/>
          <p:nvPr>
            <p:ph idx="10" type="dt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12"/>
          <p:cNvSpPr txBox="1"/>
          <p:nvPr>
            <p:ph idx="11" type="ftr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12"/>
          <p:cNvSpPr txBox="1"/>
          <p:nvPr>
            <p:ph idx="12" type="sldNum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3"/>
          <p:cNvSpPr txBox="1"/>
          <p:nvPr>
            <p:ph type="title"/>
          </p:nvPr>
        </p:nvSpPr>
        <p:spPr>
          <a:xfrm>
            <a:off x="609599" y="4800600"/>
            <a:ext cx="6347714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8" name="Google Shape;108;p13"/>
          <p:cNvSpPr/>
          <p:nvPr>
            <p:ph idx="2" type="pic"/>
          </p:nvPr>
        </p:nvSpPr>
        <p:spPr>
          <a:xfrm>
            <a:off x="609599" y="609600"/>
            <a:ext cx="6347714" cy="38457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09" name="Google Shape;109;p13"/>
          <p:cNvSpPr txBox="1"/>
          <p:nvPr>
            <p:ph idx="1" type="body"/>
          </p:nvPr>
        </p:nvSpPr>
        <p:spPr>
          <a:xfrm>
            <a:off x="609599" y="5367338"/>
            <a:ext cx="6347714" cy="674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  <a:defRPr sz="12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  <a:defRPr b="0" i="0" sz="12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286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b="0" i="0" sz="10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286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286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286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286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286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286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10" name="Google Shape;110;p13"/>
          <p:cNvSpPr txBox="1"/>
          <p:nvPr>
            <p:ph idx="10" type="dt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" name="Google Shape;111;p13"/>
          <p:cNvSpPr txBox="1"/>
          <p:nvPr>
            <p:ph idx="11" type="ftr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12" type="sldNum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 txBox="1"/>
          <p:nvPr>
            <p:ph idx="10" type="dt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" name="Google Shape;115;p14"/>
          <p:cNvSpPr txBox="1"/>
          <p:nvPr>
            <p:ph idx="11" type="ftr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" name="Google Shape;116;p14"/>
          <p:cNvSpPr txBox="1"/>
          <p:nvPr>
            <p:ph idx="12" type="sldNum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type="title"/>
          </p:nvPr>
        </p:nvSpPr>
        <p:spPr>
          <a:xfrm>
            <a:off x="609599" y="609600"/>
            <a:ext cx="6347714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10" type="dt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0" name="Google Shape;120;p15"/>
          <p:cNvSpPr txBox="1"/>
          <p:nvPr>
            <p:ph idx="11" type="ftr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1" name="Google Shape;121;p15"/>
          <p:cNvSpPr txBox="1"/>
          <p:nvPr>
            <p:ph idx="12" type="sldNum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4" name="Google Shape;124;p16"/>
          <p:cNvSpPr txBox="1"/>
          <p:nvPr>
            <p:ph idx="1" type="body"/>
          </p:nvPr>
        </p:nvSpPr>
        <p:spPr>
          <a:xfrm>
            <a:off x="609599" y="2160983"/>
            <a:ext cx="309067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  <a:defRPr b="0" sz="24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1" i="0" sz="20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286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  <a:defRPr b="1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286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286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286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286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286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286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25" name="Google Shape;125;p16"/>
          <p:cNvSpPr txBox="1"/>
          <p:nvPr>
            <p:ph idx="2" type="body"/>
          </p:nvPr>
        </p:nvSpPr>
        <p:spPr>
          <a:xfrm>
            <a:off x="609599" y="2737246"/>
            <a:ext cx="3090672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▶"/>
              <a:defRPr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▶"/>
              <a:defRPr b="0" i="0" sz="16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9719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▶"/>
              <a:defRPr b="0" i="0" sz="14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89559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89559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26" name="Google Shape;126;p16"/>
          <p:cNvSpPr txBox="1"/>
          <p:nvPr>
            <p:ph idx="3" type="body"/>
          </p:nvPr>
        </p:nvSpPr>
        <p:spPr>
          <a:xfrm>
            <a:off x="3866640" y="2160983"/>
            <a:ext cx="309067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  <a:defRPr b="0" sz="24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1" i="0" sz="20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286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  <a:defRPr b="1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286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286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286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286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286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286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27" name="Google Shape;127;p16"/>
          <p:cNvSpPr txBox="1"/>
          <p:nvPr>
            <p:ph idx="4" type="body"/>
          </p:nvPr>
        </p:nvSpPr>
        <p:spPr>
          <a:xfrm>
            <a:off x="3866640" y="2737246"/>
            <a:ext cx="3090672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▶"/>
              <a:defRPr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▶"/>
              <a:defRPr b="0" i="0" sz="16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9719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▶"/>
              <a:defRPr b="0" i="0" sz="14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89559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89559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28" name="Google Shape;128;p16"/>
          <p:cNvSpPr txBox="1"/>
          <p:nvPr>
            <p:ph idx="10" type="dt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9" name="Google Shape;129;p16"/>
          <p:cNvSpPr txBox="1"/>
          <p:nvPr>
            <p:ph idx="11" type="ftr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0" name="Google Shape;130;p16"/>
          <p:cNvSpPr txBox="1"/>
          <p:nvPr>
            <p:ph idx="12" type="sldNum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7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rtl="0">
              <a:spcBef>
                <a:spcPts val="1000"/>
              </a:spcBef>
              <a:spcAft>
                <a:spcPts val="0"/>
              </a:spcAft>
              <a:buSzPts val="1400"/>
              <a:buChar char="▶"/>
              <a:defRPr sz="1400"/>
            </a:lvl1pPr>
            <a:lvl2pPr indent="-304800" lvl="1" marL="914400" rtl="0">
              <a:spcBef>
                <a:spcPts val="1000"/>
              </a:spcBef>
              <a:spcAft>
                <a:spcPts val="0"/>
              </a:spcAft>
              <a:buSzPts val="1200"/>
              <a:buChar char="▶"/>
              <a:defRPr sz="1200"/>
            </a:lvl2pPr>
            <a:lvl3pPr indent="-304800" lvl="2" marL="1371600" rtl="0">
              <a:spcBef>
                <a:spcPts val="1000"/>
              </a:spcBef>
              <a:spcAft>
                <a:spcPts val="0"/>
              </a:spcAft>
              <a:buSzPts val="1200"/>
              <a:buChar char="▶"/>
              <a:defRPr sz="1200"/>
            </a:lvl3pPr>
            <a:lvl4pPr indent="-304800" lvl="3" marL="1828800" rtl="0">
              <a:spcBef>
                <a:spcPts val="1000"/>
              </a:spcBef>
              <a:spcAft>
                <a:spcPts val="0"/>
              </a:spcAft>
              <a:buSzPts val="1200"/>
              <a:buChar char="▶"/>
              <a:defRPr sz="1200"/>
            </a:lvl4pPr>
            <a:lvl5pPr indent="-304800" lvl="4" marL="2286000" rtl="0">
              <a:spcBef>
                <a:spcPts val="1000"/>
              </a:spcBef>
              <a:spcAft>
                <a:spcPts val="0"/>
              </a:spcAft>
              <a:buSzPts val="1200"/>
              <a:buChar char="▶"/>
              <a:defRPr sz="1200"/>
            </a:lvl5pPr>
            <a:lvl6pPr indent="-304800" lvl="5" marL="2743200" rtl="0">
              <a:spcBef>
                <a:spcPts val="1000"/>
              </a:spcBef>
              <a:spcAft>
                <a:spcPts val="0"/>
              </a:spcAft>
              <a:buSzPts val="1200"/>
              <a:buChar char="▶"/>
              <a:defRPr sz="1200"/>
            </a:lvl6pPr>
            <a:lvl7pPr indent="-304800" lvl="6" marL="3200400" rtl="0">
              <a:spcBef>
                <a:spcPts val="1000"/>
              </a:spcBef>
              <a:spcAft>
                <a:spcPts val="0"/>
              </a:spcAft>
              <a:buSzPts val="1200"/>
              <a:buChar char="▶"/>
              <a:defRPr sz="1200"/>
            </a:lvl7pPr>
            <a:lvl8pPr indent="-304800" lvl="7" marL="3657600" rtl="0">
              <a:spcBef>
                <a:spcPts val="1000"/>
              </a:spcBef>
              <a:spcAft>
                <a:spcPts val="0"/>
              </a:spcAft>
              <a:buSzPts val="1200"/>
              <a:buChar char="▶"/>
              <a:defRPr sz="1200"/>
            </a:lvl8pPr>
            <a:lvl9pPr indent="-304800" lvl="8" marL="4114800" rtl="0">
              <a:spcBef>
                <a:spcPts val="1000"/>
              </a:spcBef>
              <a:spcAft>
                <a:spcPts val="0"/>
              </a:spcAft>
              <a:buSzPts val="1200"/>
              <a:buChar char="▶"/>
              <a:defRPr sz="1200"/>
            </a:lvl9pPr>
          </a:lstStyle>
          <a:p/>
        </p:txBody>
      </p:sp>
      <p:sp>
        <p:nvSpPr>
          <p:cNvPr id="134" name="Google Shape;134;p17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rtl="0">
              <a:spcBef>
                <a:spcPts val="1000"/>
              </a:spcBef>
              <a:spcAft>
                <a:spcPts val="0"/>
              </a:spcAft>
              <a:buSzPts val="1400"/>
              <a:buChar char="▶"/>
              <a:defRPr sz="1400"/>
            </a:lvl1pPr>
            <a:lvl2pPr indent="-304800" lvl="1" marL="914400" rtl="0">
              <a:spcBef>
                <a:spcPts val="1000"/>
              </a:spcBef>
              <a:spcAft>
                <a:spcPts val="0"/>
              </a:spcAft>
              <a:buSzPts val="1200"/>
              <a:buChar char="▶"/>
              <a:defRPr sz="1200"/>
            </a:lvl2pPr>
            <a:lvl3pPr indent="-304800" lvl="2" marL="1371600" rtl="0">
              <a:spcBef>
                <a:spcPts val="1000"/>
              </a:spcBef>
              <a:spcAft>
                <a:spcPts val="0"/>
              </a:spcAft>
              <a:buSzPts val="1200"/>
              <a:buChar char="▶"/>
              <a:defRPr sz="1200"/>
            </a:lvl3pPr>
            <a:lvl4pPr indent="-304800" lvl="3" marL="1828800" rtl="0">
              <a:spcBef>
                <a:spcPts val="1000"/>
              </a:spcBef>
              <a:spcAft>
                <a:spcPts val="0"/>
              </a:spcAft>
              <a:buSzPts val="1200"/>
              <a:buChar char="▶"/>
              <a:defRPr sz="1200"/>
            </a:lvl4pPr>
            <a:lvl5pPr indent="-304800" lvl="4" marL="2286000" rtl="0">
              <a:spcBef>
                <a:spcPts val="1000"/>
              </a:spcBef>
              <a:spcAft>
                <a:spcPts val="0"/>
              </a:spcAft>
              <a:buSzPts val="1200"/>
              <a:buChar char="▶"/>
              <a:defRPr sz="1200"/>
            </a:lvl5pPr>
            <a:lvl6pPr indent="-304800" lvl="5" marL="2743200" rtl="0">
              <a:spcBef>
                <a:spcPts val="1000"/>
              </a:spcBef>
              <a:spcAft>
                <a:spcPts val="0"/>
              </a:spcAft>
              <a:buSzPts val="1200"/>
              <a:buChar char="▶"/>
              <a:defRPr sz="1200"/>
            </a:lvl6pPr>
            <a:lvl7pPr indent="-304800" lvl="6" marL="3200400" rtl="0">
              <a:spcBef>
                <a:spcPts val="1000"/>
              </a:spcBef>
              <a:spcAft>
                <a:spcPts val="0"/>
              </a:spcAft>
              <a:buSzPts val="1200"/>
              <a:buChar char="▶"/>
              <a:defRPr sz="1200"/>
            </a:lvl7pPr>
            <a:lvl8pPr indent="-304800" lvl="7" marL="3657600" rtl="0">
              <a:spcBef>
                <a:spcPts val="1000"/>
              </a:spcBef>
              <a:spcAft>
                <a:spcPts val="0"/>
              </a:spcAft>
              <a:buSzPts val="1200"/>
              <a:buChar char="▶"/>
              <a:defRPr sz="1200"/>
            </a:lvl8pPr>
            <a:lvl9pPr indent="-304800" lvl="8" marL="4114800" rtl="0">
              <a:spcBef>
                <a:spcPts val="1000"/>
              </a:spcBef>
              <a:spcAft>
                <a:spcPts val="0"/>
              </a:spcAft>
              <a:buSzPts val="1200"/>
              <a:buChar char="▶"/>
              <a:defRPr sz="1200"/>
            </a:lvl9pPr>
          </a:lstStyle>
          <a:p/>
        </p:txBody>
      </p:sp>
      <p:sp>
        <p:nvSpPr>
          <p:cNvPr id="135" name="Google Shape;135;p1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-7937" y="-7937"/>
            <a:ext cx="9169400" cy="6873875"/>
            <a:chOff x="0" y="0"/>
            <a:chExt cx="2147483647" cy="2147483647"/>
          </a:xfrm>
        </p:grpSpPr>
        <p:cxnSp>
          <p:nvCxnSpPr>
            <p:cNvPr id="11" name="Google Shape;11;p1"/>
            <p:cNvCxnSpPr/>
            <p:nvPr/>
          </p:nvCxnSpPr>
          <p:spPr>
            <a:xfrm flipH="1" rot="10800000">
              <a:off x="1203498072" y="1306840372"/>
              <a:ext cx="942126622" cy="838163161"/>
            </a:xfrm>
            <a:prstGeom prst="straightConnector1">
              <a:avLst/>
            </a:prstGeom>
            <a:noFill/>
            <a:ln cap="rnd" cmpd="sng" w="9525">
              <a:solidFill>
                <a:srgbClr val="D9D9D9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2" name="Google Shape;12;p1"/>
            <p:cNvCxnSpPr/>
            <p:nvPr/>
          </p:nvCxnSpPr>
          <p:spPr>
            <a:xfrm>
              <a:off x="1651138341" y="2479859"/>
              <a:ext cx="285538075" cy="2142523850"/>
            </a:xfrm>
            <a:prstGeom prst="straightConnector1">
              <a:avLst/>
            </a:prstGeom>
            <a:noFill/>
            <a:ln cap="rnd" cmpd="sng" w="9525">
              <a:solidFill>
                <a:srgbClr val="BFBFB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3" name="Google Shape;13;p1"/>
            <p:cNvSpPr/>
            <p:nvPr/>
          </p:nvSpPr>
          <p:spPr>
            <a:xfrm>
              <a:off x="1615817854" y="2479859"/>
              <a:ext cx="531665792" cy="2145003787"/>
            </a:xfrm>
            <a:custGeom>
              <a:rect b="b" l="l" r="r" t="t"/>
              <a:pathLst>
                <a:path extrusionOk="0" h="6866466" w="2269442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1689433219" y="0"/>
              <a:ext cx="456191502" cy="2145003713"/>
            </a:xfrm>
            <a:custGeom>
              <a:rect b="b" l="l" r="r" t="t"/>
              <a:pathLst>
                <a:path extrusionOk="0" h="6866467" w="194814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1556702462" y="1226991904"/>
              <a:ext cx="588550267" cy="918011888"/>
            </a:xfrm>
            <a:custGeom>
              <a:rect b="b" l="l" r="r" t="t"/>
              <a:pathLst>
                <a:path extrusionOk="0" h="3810000" w="3259667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1643702300" y="0"/>
              <a:ext cx="501922159" cy="2145003713"/>
            </a:xfrm>
            <a:custGeom>
              <a:rect b="b" l="l" r="r" t="t"/>
              <a:pathLst>
                <a:path extrusionOk="0" h="6866467" w="28532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69803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1944855701" y="0"/>
              <a:ext cx="200768967" cy="2145003713"/>
            </a:xfrm>
            <a:custGeom>
              <a:rect b="b" l="l" r="r" t="t"/>
              <a:pathLst>
                <a:path extrusionOk="0" h="6866467" w="1286933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rgbClr val="C0E474">
                <a:alpha val="69803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1893547987" y="0"/>
              <a:ext cx="249845748" cy="2145003713"/>
            </a:xfrm>
            <a:custGeom>
              <a:rect b="b" l="l" r="r" t="t"/>
              <a:pathLst>
                <a:path extrusionOk="0" h="6866467" w="1270244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1889458566" y="1531508028"/>
              <a:ext cx="256537980" cy="613495812"/>
            </a:xfrm>
            <a:custGeom>
              <a:rect b="b" l="l" r="r" t="t"/>
              <a:pathLst>
                <a:path extrusionOk="0" h="3268133" w="18203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7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0" y="0"/>
              <a:ext cx="202256307" cy="1779981250"/>
            </a:xfrm>
            <a:custGeom>
              <a:rect b="b" l="l" r="r" t="t"/>
              <a:pathLst>
                <a:path extrusionOk="0" h="5698067" w="863600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4705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1"/>
          <p:cNvSpPr txBox="1"/>
          <p:nvPr>
            <p:ph type="title"/>
          </p:nvPr>
        </p:nvSpPr>
        <p:spPr>
          <a:xfrm>
            <a:off x="609600" y="609600"/>
            <a:ext cx="6348412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1"/>
          <p:cNvSpPr txBox="1"/>
          <p:nvPr>
            <p:ph idx="1" type="body"/>
          </p:nvPr>
        </p:nvSpPr>
        <p:spPr>
          <a:xfrm>
            <a:off x="609600" y="2160587"/>
            <a:ext cx="6348412" cy="388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▶"/>
              <a:defRPr b="0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▶"/>
              <a:defRPr b="0" i="0" sz="16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9719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▶"/>
              <a:defRPr b="0" i="0" sz="14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89559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89559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3" name="Google Shape;23;p1"/>
          <p:cNvSpPr txBox="1"/>
          <p:nvPr>
            <p:ph idx="10" type="dt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1"/>
          <p:cNvSpPr txBox="1"/>
          <p:nvPr>
            <p:ph idx="11" type="ftr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2" type="sldNum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3"/>
          <p:cNvGrpSpPr/>
          <p:nvPr/>
        </p:nvGrpSpPr>
        <p:grpSpPr>
          <a:xfrm>
            <a:off x="-7937" y="-7937"/>
            <a:ext cx="9169400" cy="6873875"/>
            <a:chOff x="0" y="0"/>
            <a:chExt cx="2147483647" cy="2147483647"/>
          </a:xfrm>
        </p:grpSpPr>
        <p:sp>
          <p:nvSpPr>
            <p:cNvPr id="34" name="Google Shape;34;p3"/>
            <p:cNvSpPr/>
            <p:nvPr/>
          </p:nvSpPr>
          <p:spPr>
            <a:xfrm>
              <a:off x="0" y="1256253272"/>
              <a:ext cx="107076940" cy="891230374"/>
            </a:xfrm>
            <a:custGeom>
              <a:rect b="b" l="l" r="r" t="t"/>
              <a:pathLst>
                <a:path extrusionOk="0" h="2853267" w="457200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4705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" name="Google Shape;35;p3"/>
            <p:cNvCxnSpPr/>
            <p:nvPr/>
          </p:nvCxnSpPr>
          <p:spPr>
            <a:xfrm flipH="1" rot="10800000">
              <a:off x="1203497939" y="1306840366"/>
              <a:ext cx="942126519" cy="838163157"/>
            </a:xfrm>
            <a:prstGeom prst="straightConnector1">
              <a:avLst/>
            </a:prstGeom>
            <a:noFill/>
            <a:ln cap="rnd" cmpd="sng" w="9525">
              <a:solidFill>
                <a:srgbClr val="D9D9D9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6" name="Google Shape;36;p3"/>
            <p:cNvCxnSpPr/>
            <p:nvPr/>
          </p:nvCxnSpPr>
          <p:spPr>
            <a:xfrm>
              <a:off x="1651138395" y="2479859"/>
              <a:ext cx="285538043" cy="2142523840"/>
            </a:xfrm>
            <a:prstGeom prst="straightConnector1">
              <a:avLst/>
            </a:prstGeom>
            <a:noFill/>
            <a:ln cap="rnd" cmpd="sng" w="9525">
              <a:solidFill>
                <a:srgbClr val="BFBFB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37" name="Google Shape;37;p3"/>
            <p:cNvSpPr/>
            <p:nvPr/>
          </p:nvSpPr>
          <p:spPr>
            <a:xfrm>
              <a:off x="1615817912" y="2479859"/>
              <a:ext cx="531665734" cy="2145003777"/>
            </a:xfrm>
            <a:custGeom>
              <a:rect b="b" l="l" r="r" t="t"/>
              <a:pathLst>
                <a:path extrusionOk="0" h="6866466" w="2269442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1689433269" y="0"/>
              <a:ext cx="456191453" cy="2145003703"/>
            </a:xfrm>
            <a:custGeom>
              <a:rect b="b" l="l" r="r" t="t"/>
              <a:pathLst>
                <a:path extrusionOk="0" h="6866467" w="194814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1556702526" y="1226991898"/>
              <a:ext cx="588550432" cy="918011884"/>
            </a:xfrm>
            <a:custGeom>
              <a:rect b="b" l="l" r="r" t="t"/>
              <a:pathLst>
                <a:path extrusionOk="0" h="3810000" w="3259667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1643702354" y="0"/>
              <a:ext cx="501922104" cy="2145003703"/>
            </a:xfrm>
            <a:custGeom>
              <a:rect b="b" l="l" r="r" t="t"/>
              <a:pathLst>
                <a:path extrusionOk="0" h="6866467" w="28532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69803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1944855723" y="0"/>
              <a:ext cx="200768945" cy="2145003703"/>
            </a:xfrm>
            <a:custGeom>
              <a:rect b="b" l="l" r="r" t="t"/>
              <a:pathLst>
                <a:path extrusionOk="0" h="6866467" w="1286933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rgbClr val="C0E474">
                <a:alpha val="69803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1893548014" y="0"/>
              <a:ext cx="249845721" cy="2145003703"/>
            </a:xfrm>
            <a:custGeom>
              <a:rect b="b" l="l" r="r" t="t"/>
              <a:pathLst>
                <a:path extrusionOk="0" h="6866467" w="1270244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1889458358" y="1531508021"/>
              <a:ext cx="256537952" cy="613495809"/>
            </a:xfrm>
            <a:custGeom>
              <a:rect b="b" l="l" r="r" t="t"/>
              <a:pathLst>
                <a:path extrusionOk="0" h="3268133" w="18203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7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" name="Google Shape;44;p3"/>
          <p:cNvSpPr txBox="1"/>
          <p:nvPr>
            <p:ph type="title"/>
          </p:nvPr>
        </p:nvSpPr>
        <p:spPr>
          <a:xfrm>
            <a:off x="609600" y="609600"/>
            <a:ext cx="6348412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5" name="Google Shape;45;p3"/>
          <p:cNvSpPr txBox="1"/>
          <p:nvPr>
            <p:ph idx="1" type="body"/>
          </p:nvPr>
        </p:nvSpPr>
        <p:spPr>
          <a:xfrm>
            <a:off x="609600" y="2160587"/>
            <a:ext cx="6348412" cy="388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▶"/>
              <a:defRPr b="0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▶"/>
              <a:defRPr b="0" i="0" sz="16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9719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▶"/>
              <a:defRPr b="0" i="0" sz="14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89559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89559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46" name="Google Shape;46;p3"/>
          <p:cNvSpPr txBox="1"/>
          <p:nvPr>
            <p:ph idx="10" type="dt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3"/>
          <p:cNvSpPr txBox="1"/>
          <p:nvPr>
            <p:ph idx="11" type="ftr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  <a:defRPr b="0" i="0" sz="9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jp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/>
          <p:nvPr>
            <p:ph type="ctrTitle"/>
          </p:nvPr>
        </p:nvSpPr>
        <p:spPr>
          <a:xfrm>
            <a:off x="1130300" y="2405062"/>
            <a:ext cx="5827712" cy="16462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</a:pPr>
            <a:r>
              <a:rPr b="0" i="0" lang="en-US" sz="5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Análisis y diseño </a:t>
            </a:r>
            <a:br>
              <a:rPr b="0" i="0" lang="en-US" sz="5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0" i="0" lang="en-US" sz="5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de sistemas 2</a:t>
            </a:r>
            <a:endParaRPr/>
          </a:p>
        </p:txBody>
      </p:sp>
      <p:sp>
        <p:nvSpPr>
          <p:cNvPr id="141" name="Google Shape;141;p18"/>
          <p:cNvSpPr txBox="1"/>
          <p:nvPr>
            <p:ph idx="4294967295" type="body"/>
          </p:nvPr>
        </p:nvSpPr>
        <p:spPr>
          <a:xfrm>
            <a:off x="762000" y="4579937"/>
            <a:ext cx="2790825" cy="2014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Aspectos Clave en el diseño de Software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t/>
            </a:r>
            <a:endParaRPr b="1" i="0" sz="1800" u="none" cap="none" strike="noStrike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Parte 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Y continuación de Middleware</a:t>
            </a:r>
            <a:endParaRPr/>
          </a:p>
          <a:p>
            <a:pPr indent="-251459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t/>
            </a:r>
            <a:endParaRPr b="1" i="0" sz="1800" u="none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/>
          <p:nvPr>
            <p:ph type="title"/>
          </p:nvPr>
        </p:nvSpPr>
        <p:spPr>
          <a:xfrm>
            <a:off x="609600" y="2700337"/>
            <a:ext cx="6348412" cy="18272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Middleware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/>
          <p:nvPr>
            <p:ph type="title"/>
          </p:nvPr>
        </p:nvSpPr>
        <p:spPr>
          <a:xfrm>
            <a:off x="609600" y="609600"/>
            <a:ext cx="6348412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RPC</a:t>
            </a:r>
            <a:br>
              <a:rPr b="0" i="0" lang="en-US" sz="40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Remote Procedure Call</a:t>
            </a:r>
            <a:endParaRPr/>
          </a:p>
        </p:txBody>
      </p:sp>
      <p:sp>
        <p:nvSpPr>
          <p:cNvPr id="152" name="Google Shape;152;p20"/>
          <p:cNvSpPr txBox="1"/>
          <p:nvPr>
            <p:ph idx="1" type="body"/>
          </p:nvPr>
        </p:nvSpPr>
        <p:spPr>
          <a:xfrm>
            <a:off x="322262" y="2160587"/>
            <a:ext cx="3411537" cy="4164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▶"/>
            </a:pPr>
            <a:r>
              <a:rPr b="0" i="0" lang="en-US" sz="20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Protocolo que permite a un programa de computadora ejecutar código en otra máquina remota sin tener que preocuparse por las comunicaciones entre ambos (o detalles de red). </a:t>
            </a:r>
            <a:endParaRPr/>
          </a:p>
          <a:p>
            <a:pPr indent="-241300" lvl="0" marL="342900" marR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marR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▶"/>
            </a:pPr>
            <a:r>
              <a:rPr b="0" i="0" lang="en-US" sz="20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El protocolo es un gran avance sobre los sockets. </a:t>
            </a:r>
            <a:endParaRPr/>
          </a:p>
          <a:p>
            <a:pPr indent="-241300" lvl="0" marL="342900" marR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▶"/>
            </a:pPr>
            <a:r>
              <a:rPr b="0" i="0" lang="en-US" sz="20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Las RPC son utilizadas dentro del paradigma cliente-servidor. </a:t>
            </a:r>
            <a:endParaRPr/>
          </a:p>
          <a:p>
            <a:pPr indent="-2413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z="2000" u="none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3" name="Google Shape;153;p20"/>
          <p:cNvSpPr txBox="1"/>
          <p:nvPr/>
        </p:nvSpPr>
        <p:spPr>
          <a:xfrm>
            <a:off x="457200" y="3276600"/>
            <a:ext cx="37338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0675" y="2016225"/>
            <a:ext cx="4648201" cy="37079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/>
          <p:nvPr>
            <p:ph type="title"/>
          </p:nvPr>
        </p:nvSpPr>
        <p:spPr>
          <a:xfrm>
            <a:off x="609600" y="609600"/>
            <a:ext cx="6348412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b="0" i="0" lang="en-US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MOM</a:t>
            </a:r>
            <a:br>
              <a:rPr b="0" i="0" lang="en-US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Message Oriented Middleware</a:t>
            </a:r>
            <a:endParaRPr/>
          </a:p>
        </p:txBody>
      </p:sp>
      <p:sp>
        <p:nvSpPr>
          <p:cNvPr id="160" name="Google Shape;160;p21"/>
          <p:cNvSpPr txBox="1"/>
          <p:nvPr>
            <p:ph idx="1" type="body"/>
          </p:nvPr>
        </p:nvSpPr>
        <p:spPr>
          <a:xfrm>
            <a:off x="457200" y="1719262"/>
            <a:ext cx="8229600" cy="1100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▶"/>
            </a:pPr>
            <a:r>
              <a:rPr b="0" i="0" lang="en-US" sz="24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Las tecnologías MOM se encargan de entregar mensajes entre aplicaciones, es decir </a:t>
            </a:r>
            <a:r>
              <a:rPr b="1" i="0" lang="en-US" sz="24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integrar aplicaciones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t/>
            </a:r>
            <a:endParaRPr b="0" i="0" sz="1800" u="none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51459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t/>
            </a:r>
            <a:endParaRPr b="0" i="0" sz="1800" u="none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61" name="Google Shape;161;p21"/>
          <p:cNvPicPr preferRelativeResize="0"/>
          <p:nvPr/>
        </p:nvPicPr>
        <p:blipFill rotWithShape="1">
          <a:blip r:embed="rId3">
            <a:alphaModFix/>
          </a:blip>
          <a:srcRect b="18062" l="39845" r="23599" t="47390"/>
          <a:stretch/>
        </p:blipFill>
        <p:spPr>
          <a:xfrm>
            <a:off x="1355725" y="2895600"/>
            <a:ext cx="6584950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2"/>
          <p:cNvSpPr txBox="1"/>
          <p:nvPr>
            <p:ph type="title"/>
          </p:nvPr>
        </p:nvSpPr>
        <p:spPr>
          <a:xfrm>
            <a:off x="457200" y="273050"/>
            <a:ext cx="7391400" cy="1022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Trebuchet MS"/>
              <a:buNone/>
            </a:pPr>
            <a:r>
              <a:rPr b="0" i="0" lang="en-US" sz="32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MOM</a:t>
            </a:r>
            <a:endParaRPr/>
          </a:p>
        </p:txBody>
      </p:sp>
      <p:sp>
        <p:nvSpPr>
          <p:cNvPr id="167" name="Google Shape;167;p22"/>
          <p:cNvSpPr txBox="1"/>
          <p:nvPr>
            <p:ph idx="1" type="body"/>
          </p:nvPr>
        </p:nvSpPr>
        <p:spPr>
          <a:xfrm>
            <a:off x="533400" y="2514600"/>
            <a:ext cx="8305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</a:pPr>
            <a:r>
              <a:rPr b="0" i="0" lang="en-US" sz="14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MOM es comúnmente implementado como un servidor que puede manejar mensajes de múltiples y concurrentes clientes.  Para desacoplar emisores y receptores, MOM provee de una cola de mensajes en donde los emisores ponen su mensaje y los receptores los toman, el MOM Server puede crear y manejar varias colas de mensajes y manejar muchos mensajes siendo enviados de colas de manera simultanea haciendo uso de un Thread Pool.</a:t>
            </a:r>
            <a:endParaRPr/>
          </a:p>
        </p:txBody>
      </p:sp>
      <p:pic>
        <p:nvPicPr>
          <p:cNvPr id="168" name="Google Shape;168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28427" l="39845" r="24612" t="50845"/>
          <a:stretch/>
        </p:blipFill>
        <p:spPr>
          <a:xfrm>
            <a:off x="2514600" y="1295400"/>
            <a:ext cx="4191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2"/>
          <p:cNvPicPr preferRelativeResize="0"/>
          <p:nvPr/>
        </p:nvPicPr>
        <p:blipFill rotWithShape="1">
          <a:blip r:embed="rId4">
            <a:alphaModFix/>
          </a:blip>
          <a:srcRect b="32222" l="38881" r="25341" t="24669"/>
          <a:stretch/>
        </p:blipFill>
        <p:spPr>
          <a:xfrm>
            <a:off x="3048000" y="3733800"/>
            <a:ext cx="3733800" cy="264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/>
          <p:nvPr>
            <p:ph type="title"/>
          </p:nvPr>
        </p:nvSpPr>
        <p:spPr>
          <a:xfrm>
            <a:off x="609600" y="609600"/>
            <a:ext cx="6348412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b="0" i="0" lang="en-US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MOM</a:t>
            </a:r>
            <a:br>
              <a:rPr b="0" i="0" lang="en-US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0" i="0" lang="en-US" sz="20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Escenarios donde usar</a:t>
            </a:r>
            <a:endParaRPr/>
          </a:p>
        </p:txBody>
      </p:sp>
      <p:sp>
        <p:nvSpPr>
          <p:cNvPr id="175" name="Google Shape;175;p23"/>
          <p:cNvSpPr txBox="1"/>
          <p:nvPr>
            <p:ph idx="1" type="body"/>
          </p:nvPr>
        </p:nvSpPr>
        <p:spPr>
          <a:xfrm>
            <a:off x="609600" y="2160587"/>
            <a:ext cx="6348412" cy="388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▶"/>
            </a:pPr>
            <a:r>
              <a:rPr b="0" i="0" lang="en-US" sz="1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El emisor no necesita respuesta (</a:t>
            </a:r>
            <a:r>
              <a:rPr b="0" i="1" lang="en-US" sz="1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Send and forget messaging</a:t>
            </a:r>
            <a:r>
              <a:rPr b="0" i="0" lang="en-US" sz="1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), envia el mensaje y sigue con su trabajo.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▶"/>
            </a:pPr>
            <a:r>
              <a:rPr b="0" i="0" lang="en-US" sz="1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El emisor no necesita una respuesta inmediata, el receptor puede tardar varios minutos en procesar una petición, el emisor sigue con su trabajo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▶"/>
            </a:pPr>
            <a:r>
              <a:rPr b="0" i="0" lang="en-US" sz="1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La red entre el emisor y el receptor no opera continuamente.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2175" y="2113600"/>
            <a:ext cx="5496651" cy="409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4"/>
          <p:cNvSpPr txBox="1"/>
          <p:nvPr>
            <p:ph type="title"/>
          </p:nvPr>
        </p:nvSpPr>
        <p:spPr>
          <a:xfrm>
            <a:off x="609600" y="609600"/>
            <a:ext cx="6348300" cy="132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RPC and MOM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5"/>
          <p:cNvSpPr txBox="1"/>
          <p:nvPr>
            <p:ph type="title"/>
          </p:nvPr>
        </p:nvSpPr>
        <p:spPr>
          <a:xfrm>
            <a:off x="609600" y="609600"/>
            <a:ext cx="6348412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Características</a:t>
            </a:r>
            <a:r>
              <a:rPr b="0" i="0" lang="en-US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 avanzadas MOM</a:t>
            </a:r>
            <a:endParaRPr/>
          </a:p>
        </p:txBody>
      </p:sp>
      <p:sp>
        <p:nvSpPr>
          <p:cNvPr id="188" name="Google Shape;188;p25"/>
          <p:cNvSpPr txBox="1"/>
          <p:nvPr>
            <p:ph idx="1" type="body"/>
          </p:nvPr>
        </p:nvSpPr>
        <p:spPr>
          <a:xfrm>
            <a:off x="609600" y="2160587"/>
            <a:ext cx="6348412" cy="388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▶"/>
            </a:pPr>
            <a:r>
              <a:rPr b="0" i="0" lang="en-US" sz="1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Message delivery</a:t>
            </a:r>
            <a:endParaRPr/>
          </a:p>
          <a:p>
            <a:pPr indent="-251459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t/>
            </a:r>
            <a:endParaRPr b="0" i="0" sz="1800" u="none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▶"/>
            </a:pPr>
            <a:r>
              <a:rPr b="0" i="0" lang="en-US" sz="1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Transactions</a:t>
            </a:r>
            <a:endParaRPr/>
          </a:p>
          <a:p>
            <a:pPr indent="-251459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t/>
            </a:r>
            <a:endParaRPr b="0" i="0" sz="1800" u="none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▶"/>
            </a:pPr>
            <a:r>
              <a:rPr b="0" i="0" lang="en-US" sz="1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Clustering</a:t>
            </a:r>
            <a:endParaRPr/>
          </a:p>
          <a:p>
            <a:pPr indent="-251459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t/>
            </a:r>
            <a:endParaRPr b="0" i="0" sz="1800" u="none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▶"/>
            </a:pPr>
            <a:r>
              <a:rPr b="0" i="0" lang="en-US" sz="1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Two way-messaging</a:t>
            </a:r>
            <a:endParaRPr/>
          </a:p>
          <a:p>
            <a:pPr indent="-251459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t/>
            </a:r>
            <a:endParaRPr b="0" i="0" sz="1800" u="none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"/>
          <p:cNvSpPr txBox="1"/>
          <p:nvPr>
            <p:ph idx="1" type="body"/>
          </p:nvPr>
        </p:nvSpPr>
        <p:spPr>
          <a:xfrm>
            <a:off x="609600" y="2160587"/>
            <a:ext cx="6348412" cy="388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▶"/>
            </a:pPr>
            <a:r>
              <a:rPr b="1" i="0" lang="en-US" sz="1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Message delivery</a:t>
            </a:r>
            <a:r>
              <a:rPr b="0" i="0" lang="en-US" sz="1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:  se busca confiabilidad al realizar una entrega de mensaje, garantizar al emisor que el mensaje será procesado. </a:t>
            </a:r>
            <a:endParaRPr/>
          </a:p>
          <a:p>
            <a:pPr indent="-251459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t/>
            </a:r>
            <a:endParaRPr b="0" i="0" sz="1800" u="none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▶"/>
            </a:pPr>
            <a:r>
              <a:rPr b="0" i="0" lang="en-US" sz="16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Niveles de garantía</a:t>
            </a:r>
            <a:endParaRPr/>
          </a:p>
          <a:p>
            <a:pPr indent="-204469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28600" lvl="2" marL="1143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▶"/>
            </a:pPr>
            <a:r>
              <a:rPr b="1" i="0" lang="en-US" sz="14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Best effort</a:t>
            </a:r>
            <a:r>
              <a:rPr b="0" i="0" lang="en-US" sz="14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: El servidor MOM hará lo posible por entregar el mensaje.  Los mensajes no entregados se mantienen en memoria del servidor </a:t>
            </a:r>
            <a:r>
              <a:rPr lang="en-US"/>
              <a:t>únicamente</a:t>
            </a:r>
            <a:r>
              <a:rPr b="0" i="0" lang="en-US" sz="14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 y se pueden perder si ocurre una falla en el server antes de ser entregados.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 txBox="1"/>
          <p:nvPr>
            <p:ph idx="1" type="body"/>
          </p:nvPr>
        </p:nvSpPr>
        <p:spPr>
          <a:xfrm>
            <a:off x="457200" y="304800"/>
            <a:ext cx="8229600" cy="582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2" marL="1143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▶"/>
            </a:pPr>
            <a:r>
              <a:rPr b="1" i="0" lang="en-US" sz="14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Persistent: </a:t>
            </a:r>
            <a:r>
              <a:rPr b="0" i="0" lang="en-US" sz="14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Asegura la entrega de los mensajes a pesar de fallas en el server, ya que se almacenan tanto en disco como en memoria hasta que sean entregados</a:t>
            </a:r>
            <a:endParaRPr/>
          </a:p>
          <a:p>
            <a:pPr indent="-157480" lvl="2" marL="1143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57480" lvl="2" marL="1143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57480" lvl="2" marL="1143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57480" lvl="2" marL="1143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57480" lvl="2" marL="1143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57480" lvl="2" marL="1143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57480" lvl="2" marL="1143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57480" lvl="2" marL="1143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57480" lvl="2" marL="1143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57480" lvl="2" marL="1143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57480" lvl="2" marL="1143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28600" lvl="2" marL="1143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▶"/>
            </a:pPr>
            <a:r>
              <a:rPr b="1" i="0" lang="en-US" sz="14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Transactional</a:t>
            </a:r>
            <a:r>
              <a:rPr b="0" i="0" lang="en-US" sz="14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: Los mensajes pueden ser agrupados en "todo o nada" para su entrega en unidades.</a:t>
            </a:r>
            <a:endParaRPr b="1" i="0" sz="1400" u="none" cap="none" strike="noStrike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7178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99" name="Google Shape;19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9400" y="1295400"/>
            <a:ext cx="3276600" cy="25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 txBox="1"/>
          <p:nvPr>
            <p:ph idx="1" type="body"/>
          </p:nvPr>
        </p:nvSpPr>
        <p:spPr>
          <a:xfrm>
            <a:off x="609600" y="2160587"/>
            <a:ext cx="6348412" cy="388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2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▶"/>
            </a:pPr>
            <a:r>
              <a:rPr b="1" i="0" lang="en-US" sz="14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Clustering:</a:t>
            </a:r>
            <a:r>
              <a:rPr b="0" i="0" lang="en-US" sz="14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  Si un servidor MOM se avería, las aplicaciones no pueden comunicarse, es posible tener un cluster de MOM servers, correr instancias del servidor en </a:t>
            </a:r>
            <a:r>
              <a:rPr lang="en-US"/>
              <a:t>múltiples</a:t>
            </a:r>
            <a:r>
              <a:rPr b="0" i="0" lang="en-US" sz="14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 maquinas. 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28600" lvl="2" marL="1143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▶"/>
            </a:pPr>
            <a:r>
              <a:rPr b="1" i="0" lang="en-US" sz="14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Two-Way Messaging: </a:t>
            </a:r>
            <a:r>
              <a:rPr b="0" i="0" lang="en-US" sz="14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puede configurarse MOM para comunicaciones </a:t>
            </a:r>
            <a:r>
              <a:rPr lang="en-US"/>
              <a:t>síncronas</a:t>
            </a:r>
            <a:r>
              <a:rPr b="0" i="0" lang="en-US" sz="14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 y tener un sistema </a:t>
            </a:r>
            <a:r>
              <a:rPr lang="en-US"/>
              <a:t>más</a:t>
            </a:r>
            <a:r>
              <a:rPr b="0" i="0" lang="en-US" sz="14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 acoplado, el emisor utiliza la capa de MOM para enviar un mensaje al receptor en una ‘cola de </a:t>
            </a:r>
            <a:r>
              <a:rPr lang="en-US"/>
              <a:t>petición</a:t>
            </a:r>
            <a:r>
              <a:rPr b="0" i="0" lang="en-US" sz="14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’, el mensaje contiene el nombre de la cola a la que se debe responder dicho mensaje ‘cola de respuesta’, el emisor espera hasta que el receptor envíe un mensaje  a dicha cola de respuesta. (este tipo de MOM puede reemplazar CORBA en algunas empresas)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9"/>
          <p:cNvSpPr txBox="1"/>
          <p:nvPr>
            <p:ph type="title"/>
          </p:nvPr>
        </p:nvSpPr>
        <p:spPr>
          <a:xfrm>
            <a:off x="533400" y="304800"/>
            <a:ext cx="7315200" cy="869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Trebuchet MS"/>
              <a:buNone/>
            </a:pPr>
            <a:r>
              <a:rPr b="0" i="0" lang="en-US" sz="2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PUBLISH-SU</a:t>
            </a:r>
            <a:r>
              <a:rPr lang="en-US" sz="2800"/>
              <a:t>BS</a:t>
            </a:r>
            <a:r>
              <a:rPr b="0" i="0" lang="en-US" sz="2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CRIBE</a:t>
            </a:r>
            <a:endParaRPr/>
          </a:p>
        </p:txBody>
      </p:sp>
      <p:sp>
        <p:nvSpPr>
          <p:cNvPr id="210" name="Google Shape;210;p29"/>
          <p:cNvSpPr txBox="1"/>
          <p:nvPr>
            <p:ph idx="1" type="body"/>
          </p:nvPr>
        </p:nvSpPr>
        <p:spPr>
          <a:xfrm>
            <a:off x="457200" y="1435100"/>
            <a:ext cx="8229600" cy="1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b="0" i="0" lang="en-US" sz="1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Extiende los mecanismos básicos de MOM para soportar comunicaciones de estilo 1 a muchos, muchos a muchos y muchos a uno.  Los publicadores envían una sola copia de un mensaje a un ‘Tópico’ </a:t>
            </a:r>
            <a:r>
              <a:rPr lang="en-US"/>
              <a:t>específico</a:t>
            </a:r>
            <a:r>
              <a:rPr b="0" i="0" lang="en-US" sz="1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, los Tópicos son el nombre lógico que se les da  en publish-su</a:t>
            </a:r>
            <a:r>
              <a:rPr lang="en-US"/>
              <a:t>bs</a:t>
            </a:r>
            <a:r>
              <a:rPr b="0" i="0" lang="en-US" sz="1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cribe middleware a las colas en MOM básico.  </a:t>
            </a:r>
            <a:endParaRPr/>
          </a:p>
        </p:txBody>
      </p:sp>
      <p:pic>
        <p:nvPicPr>
          <p:cNvPr id="211" name="Google Shape;211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27151" l="40373" r="23851" t="34271"/>
          <a:stretch/>
        </p:blipFill>
        <p:spPr>
          <a:xfrm>
            <a:off x="685800" y="3505200"/>
            <a:ext cx="4648200" cy="294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81800" y="3429000"/>
            <a:ext cx="10668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19800" y="4953000"/>
            <a:ext cx="971550" cy="97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0"/>
          <p:cNvSpPr txBox="1"/>
          <p:nvPr>
            <p:ph type="title"/>
          </p:nvPr>
        </p:nvSpPr>
        <p:spPr>
          <a:xfrm>
            <a:off x="609600" y="609600"/>
            <a:ext cx="6348412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b="0" i="0" lang="en-US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 Servers</a:t>
            </a:r>
            <a:endParaRPr/>
          </a:p>
        </p:txBody>
      </p:sp>
      <p:sp>
        <p:nvSpPr>
          <p:cNvPr id="219" name="Google Shape;219;p30"/>
          <p:cNvSpPr txBox="1"/>
          <p:nvPr>
            <p:ph idx="1" type="body"/>
          </p:nvPr>
        </p:nvSpPr>
        <p:spPr>
          <a:xfrm>
            <a:off x="457200" y="1270000"/>
            <a:ext cx="7924800" cy="1938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▶"/>
            </a:pPr>
            <a:r>
              <a:rPr b="0" i="0" lang="en-US" sz="20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Son servidores basados en </a:t>
            </a:r>
            <a:r>
              <a:rPr b="1" i="0" lang="en-US" sz="20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componentes</a:t>
            </a:r>
            <a:r>
              <a:rPr b="0" i="0" lang="en-US" sz="20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 que residen en una capa media en una arquitectura de N-Capas, proveen comunicación distribuida, seguridad, transacciones y persistencia, son ampliamente utilizados para construir aplicaciones que serán utilizadas en internet.</a:t>
            </a:r>
            <a:endParaRPr/>
          </a:p>
        </p:txBody>
      </p:sp>
      <p:pic>
        <p:nvPicPr>
          <p:cNvPr id="220" name="Google Shape;220;p30"/>
          <p:cNvPicPr preferRelativeResize="0"/>
          <p:nvPr/>
        </p:nvPicPr>
        <p:blipFill rotWithShape="1">
          <a:blip r:embed="rId3">
            <a:alphaModFix/>
          </a:blip>
          <a:srcRect b="26698" l="38830" r="26644" t="30119"/>
          <a:stretch/>
        </p:blipFill>
        <p:spPr>
          <a:xfrm>
            <a:off x="304800" y="3208337"/>
            <a:ext cx="3938587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application server" id="221" name="Google Shape;22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8200" y="2871787"/>
            <a:ext cx="3503612" cy="3857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0"/>
          <p:cNvSpPr txBox="1"/>
          <p:nvPr/>
        </p:nvSpPr>
        <p:spPr>
          <a:xfrm>
            <a:off x="457200" y="3810000"/>
            <a:ext cx="3962400" cy="1371600"/>
          </a:xfrm>
          <a:prstGeom prst="rect">
            <a:avLst/>
          </a:prstGeom>
          <a:noFill/>
          <a:ln cap="rnd" cmpd="sng" w="19050">
            <a:solidFill>
              <a:srgbClr val="C42F1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609600" y="609600"/>
            <a:ext cx="6348412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b="0" i="0" lang="en-US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Message Broker</a:t>
            </a:r>
            <a:endParaRPr/>
          </a:p>
        </p:txBody>
      </p:sp>
      <p:sp>
        <p:nvSpPr>
          <p:cNvPr id="228" name="Google Shape;228;p31"/>
          <p:cNvSpPr txBox="1"/>
          <p:nvPr>
            <p:ph idx="1" type="body"/>
          </p:nvPr>
        </p:nvSpPr>
        <p:spPr>
          <a:xfrm>
            <a:off x="457200" y="1719262"/>
            <a:ext cx="8229600" cy="1328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▶"/>
            </a:pPr>
            <a:r>
              <a:rPr b="0" i="0" lang="en-US" sz="24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Middleware que traduce un mensaje del protocolo formal de mensaje del emisor al protocolo formal de mensaje del receptor.</a:t>
            </a:r>
            <a:endParaRPr/>
          </a:p>
        </p:txBody>
      </p:sp>
      <p:pic>
        <p:nvPicPr>
          <p:cNvPr id="229" name="Google Shape;229;p31"/>
          <p:cNvPicPr preferRelativeResize="0"/>
          <p:nvPr/>
        </p:nvPicPr>
        <p:blipFill rotWithShape="1">
          <a:blip r:embed="rId3">
            <a:alphaModFix/>
          </a:blip>
          <a:srcRect b="12880" l="37814" r="24613" t="37028"/>
          <a:stretch/>
        </p:blipFill>
        <p:spPr>
          <a:xfrm>
            <a:off x="457200" y="3352800"/>
            <a:ext cx="3027362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1"/>
          <p:cNvPicPr preferRelativeResize="0"/>
          <p:nvPr/>
        </p:nvPicPr>
        <p:blipFill rotWithShape="1">
          <a:blip r:embed="rId4">
            <a:alphaModFix/>
          </a:blip>
          <a:srcRect b="14609" l="38830" r="25629" t="33572"/>
          <a:stretch/>
        </p:blipFill>
        <p:spPr>
          <a:xfrm>
            <a:off x="5257800" y="3276600"/>
            <a:ext cx="3378200" cy="28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1"/>
          <p:cNvSpPr/>
          <p:nvPr/>
        </p:nvSpPr>
        <p:spPr>
          <a:xfrm>
            <a:off x="3733800" y="4191000"/>
            <a:ext cx="1752600" cy="457200"/>
          </a:xfrm>
          <a:prstGeom prst="rightArrow">
            <a:avLst>
              <a:gd fmla="val 18783" name="adj1"/>
              <a:gd fmla="val 50000" name="adj2"/>
            </a:avLst>
          </a:prstGeom>
          <a:solidFill>
            <a:schemeClr val="accent1"/>
          </a:solidFill>
          <a:ln cap="rnd" cmpd="sng" w="19050">
            <a:solidFill>
              <a:srgbClr val="688E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2"/>
          <p:cNvSpPr txBox="1"/>
          <p:nvPr>
            <p:ph type="title"/>
          </p:nvPr>
        </p:nvSpPr>
        <p:spPr>
          <a:xfrm>
            <a:off x="609600" y="609600"/>
            <a:ext cx="6348300" cy="132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Investigar en casa</a:t>
            </a:r>
            <a:endParaRPr/>
          </a:p>
        </p:txBody>
      </p:sp>
      <p:sp>
        <p:nvSpPr>
          <p:cNvPr id="238" name="Google Shape;238;p32"/>
          <p:cNvSpPr txBox="1"/>
          <p:nvPr>
            <p:ph idx="1" type="body"/>
          </p:nvPr>
        </p:nvSpPr>
        <p:spPr>
          <a:xfrm>
            <a:off x="609600" y="2160587"/>
            <a:ext cx="6348300" cy="3881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457200" rtl="0" algn="l">
              <a:spcBef>
                <a:spcPts val="1000"/>
              </a:spcBef>
              <a:spcAft>
                <a:spcPts val="0"/>
              </a:spcAft>
              <a:buSzPts val="1440"/>
              <a:buChar char="▶"/>
            </a:pPr>
            <a:r>
              <a:rPr lang="en-US"/>
              <a:t>Middleware de acceso a datos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▶"/>
            </a:pPr>
            <a:r>
              <a:rPr lang="en-US"/>
              <a:t>Middleware de integración empresarial (EAI)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▶"/>
            </a:pPr>
            <a:r>
              <a:rPr lang="en-US"/>
              <a:t>Middleware de Servicios Web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▶"/>
            </a:pPr>
            <a:r>
              <a:rPr lang="en-US"/>
              <a:t>Middleware de flujo de trabajo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▶"/>
            </a:pPr>
            <a:r>
              <a:rPr lang="en-US"/>
              <a:t>Middleware de creación de contenido</a:t>
            </a:r>
            <a:endParaRPr/>
          </a:p>
          <a:p>
            <a:pPr indent="-309880" lvl="1" marL="914400" rtl="0" algn="l">
              <a:spcBef>
                <a:spcPts val="0"/>
              </a:spcBef>
              <a:spcAft>
                <a:spcPts val="0"/>
              </a:spcAft>
              <a:buSzPts val="1280"/>
              <a:buChar char="▶"/>
            </a:pPr>
            <a:r>
              <a:rPr lang="en-US"/>
              <a:t>Sistemas de gestión de contenido (CMS)</a:t>
            </a:r>
            <a:endParaRPr/>
          </a:p>
          <a:p>
            <a:pPr indent="-309880" lvl="1" marL="914400" rtl="0" algn="l">
              <a:spcBef>
                <a:spcPts val="0"/>
              </a:spcBef>
              <a:spcAft>
                <a:spcPts val="0"/>
              </a:spcAft>
              <a:buSzPts val="1280"/>
              <a:buChar char="▶"/>
            </a:pPr>
            <a:r>
              <a:rPr lang="en-US"/>
              <a:t>Sistemas de gestión de documentos (DMS)</a:t>
            </a:r>
            <a:endParaRPr/>
          </a:p>
          <a:p>
            <a:pPr indent="-309880" lvl="1" marL="914400" rtl="0" algn="l">
              <a:spcBef>
                <a:spcPts val="0"/>
              </a:spcBef>
              <a:spcAft>
                <a:spcPts val="0"/>
              </a:spcAft>
              <a:buSzPts val="1280"/>
              <a:buChar char="▶"/>
            </a:pPr>
            <a:r>
              <a:rPr lang="en-US"/>
              <a:t>Sistemas de gestión de activos digitales (DAM)</a:t>
            </a:r>
            <a:endParaRPr/>
          </a:p>
          <a:p>
            <a:pPr indent="-309880" lvl="1" marL="914400" rtl="0" algn="l">
              <a:spcBef>
                <a:spcPts val="0"/>
              </a:spcBef>
              <a:spcAft>
                <a:spcPts val="0"/>
              </a:spcAft>
              <a:buSzPts val="1280"/>
              <a:buChar char="▶"/>
            </a:pPr>
            <a:r>
              <a:rPr lang="en-US"/>
              <a:t>Plataformas de Comercio Electrónico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▶"/>
            </a:pPr>
            <a:r>
              <a:rPr lang="en-US"/>
              <a:t>Middleware de IoT</a:t>
            </a:r>
            <a:endParaRPr/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3" name="Google Shape;243;p33"/>
          <p:cNvGraphicFramePr/>
          <p:nvPr/>
        </p:nvGraphicFramePr>
        <p:xfrm>
          <a:off x="440525" y="5024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{DB425C0E-A0F8-4B4E-8F16-E74B422D3FE0}</a:tableStyleId>
              </a:tblPr>
              <a:tblGrid>
                <a:gridCol w="2691750"/>
                <a:gridCol w="3321800"/>
              </a:tblGrid>
              <a:tr h="20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Middleware de acceso a datos</a:t>
                      </a:r>
                      <a:endParaRPr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ORM</a:t>
                      </a:r>
                      <a:r>
                        <a:rPr lang="en-US"/>
                        <a:t>: Object-Relational Mapping, Middleware entre una aplicación web y una base de datos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Ejemplos: Hibernate for Java, Entity Framework de .Net, MyBatis de Java, SQLAlchemy de Python</a:t>
                      </a:r>
                      <a:endParaRPr/>
                    </a:p>
                  </a:txBody>
                  <a:tcPr marT="121900" marB="121900" marR="91425" marL="91425"/>
                </a:tc>
              </a:tr>
              <a:tr h="1530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Middleware de integración empresarial (EAI)</a:t>
                      </a:r>
                      <a:endParaRPr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Conecta diferentes sistemas y aplicaciones en una organización.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IBM Integration Bus (WebSphere Message Broker), MuleSoft, Dell Boomi, Oracle Fusion Middleware</a:t>
                      </a:r>
                      <a:endParaRPr/>
                    </a:p>
                  </a:txBody>
                  <a:tcPr marT="121900" marB="121900" marR="91425" marL="91425"/>
                </a:tc>
              </a:tr>
              <a:tr h="1530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Middleware de Servicios Web</a:t>
                      </a:r>
                      <a:endParaRPr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Facilita la creación, publicación, descubrimiento y consumo de servicios web.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Apache Axis2, Apache CXF, Microsoft WCF, Spring Web Services</a:t>
                      </a:r>
                      <a:endParaRPr/>
                    </a:p>
                  </a:txBody>
                  <a:tcPr marT="121900" marB="12190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8" name="Google Shape;248;p34"/>
          <p:cNvGraphicFramePr/>
          <p:nvPr/>
        </p:nvGraphicFramePr>
        <p:xfrm>
          <a:off x="392875" y="4793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{DB425C0E-A0F8-4B4E-8F16-E74B422D3FE0}</a:tableStyleId>
              </a:tblPr>
              <a:tblGrid>
                <a:gridCol w="2303775"/>
                <a:gridCol w="4116675"/>
              </a:tblGrid>
              <a:tr h="1028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Middleware de flujo de trabajo</a:t>
                      </a:r>
                      <a:endParaRPr sz="1500"/>
                    </a:p>
                  </a:txBody>
                  <a:tcPr marT="121900" marB="1219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Automatización de procesos de negocio complejos.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AWS Step Functions, Apache Airflow, Activiti</a:t>
                      </a:r>
                      <a:endParaRPr sz="1500"/>
                    </a:p>
                  </a:txBody>
                  <a:tcPr marT="121900" marB="1219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81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Middleware de gestión de contenido</a:t>
                      </a:r>
                      <a:endParaRPr sz="1500"/>
                    </a:p>
                  </a:txBody>
                  <a:tcPr marT="121900" marB="12190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Gestionar y automatizar la producción de contenido a gran escala.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Contentful (Headless CMS), Strapi, DatoCMS, Ghost, Netlify CMS</a:t>
                      </a:r>
                      <a:endParaRPr sz="1500"/>
                    </a:p>
                  </a:txBody>
                  <a:tcPr marT="121900" marB="12190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78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Middleware de IoT</a:t>
                      </a:r>
                      <a:endParaRPr sz="1500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Puente entre dispositivos y las aplicaciones empresariales que facilita la recolección, procesamiento y análisis de los datos generados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ThingWorx, AWS IoT Core, Microsoft Azure IoT Hub, Cloud IoT Core</a:t>
                      </a:r>
                      <a:endParaRPr sz="1500"/>
                    </a:p>
                  </a:txBody>
                  <a:tcPr marT="121900" marB="12190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5"/>
          <p:cNvSpPr txBox="1"/>
          <p:nvPr>
            <p:ph type="title"/>
          </p:nvPr>
        </p:nvSpPr>
        <p:spPr>
          <a:xfrm>
            <a:off x="609598" y="1931988"/>
            <a:ext cx="6347700" cy="2595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¿Qué middleware elegir?</a:t>
            </a:r>
            <a:endParaRPr/>
          </a:p>
        </p:txBody>
      </p:sp>
      <p:sp>
        <p:nvSpPr>
          <p:cNvPr id="255" name="Google Shape;255;p35"/>
          <p:cNvSpPr txBox="1"/>
          <p:nvPr>
            <p:ph idx="1" type="body"/>
          </p:nvPr>
        </p:nvSpPr>
        <p:spPr>
          <a:xfrm>
            <a:off x="609598" y="4527448"/>
            <a:ext cx="6347700" cy="151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Contestar en UEDI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6"/>
          <p:cNvSpPr txBox="1"/>
          <p:nvPr>
            <p:ph type="title"/>
          </p:nvPr>
        </p:nvSpPr>
        <p:spPr>
          <a:xfrm>
            <a:off x="609598" y="1931988"/>
            <a:ext cx="6347700" cy="2595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Elaborar hoja de trabajo</a:t>
            </a:r>
            <a:endParaRPr/>
          </a:p>
        </p:txBody>
      </p:sp>
      <p:sp>
        <p:nvSpPr>
          <p:cNvPr id="262" name="Google Shape;262;p36"/>
          <p:cNvSpPr txBox="1"/>
          <p:nvPr>
            <p:ph idx="1" type="body"/>
          </p:nvPr>
        </p:nvSpPr>
        <p:spPr>
          <a:xfrm>
            <a:off x="609598" y="4527448"/>
            <a:ext cx="6347700" cy="151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Comprobación Middleware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7"/>
          <p:cNvSpPr txBox="1"/>
          <p:nvPr>
            <p:ph type="title"/>
          </p:nvPr>
        </p:nvSpPr>
        <p:spPr>
          <a:xfrm>
            <a:off x="609600" y="2700337"/>
            <a:ext cx="6348412" cy="18272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Continuando con </a:t>
            </a:r>
            <a:endParaRPr/>
          </a:p>
        </p:txBody>
      </p:sp>
      <p:sp>
        <p:nvSpPr>
          <p:cNvPr id="268" name="Google Shape;268;p37"/>
          <p:cNvSpPr txBox="1"/>
          <p:nvPr>
            <p:ph idx="1" type="body"/>
          </p:nvPr>
        </p:nvSpPr>
        <p:spPr>
          <a:xfrm>
            <a:off x="609600" y="4527550"/>
            <a:ext cx="6348412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0" i="0" lang="en-US" sz="2000" u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Aspectos clave en el diseño de Software…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/>
          <p:cNvSpPr txBox="1"/>
          <p:nvPr>
            <p:ph type="title"/>
          </p:nvPr>
        </p:nvSpPr>
        <p:spPr>
          <a:xfrm>
            <a:off x="609600" y="609600"/>
            <a:ext cx="6348412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Trebuchet MS"/>
              <a:buNone/>
            </a:pPr>
            <a:r>
              <a:rPr b="0" i="0" lang="en-US" sz="2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Error,</a:t>
            </a:r>
            <a:br>
              <a:rPr b="0" i="0" lang="en-US" sz="2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0" i="0" lang="en-US" sz="2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Exception Handling,</a:t>
            </a:r>
            <a:br>
              <a:rPr b="0" i="0" lang="en-US" sz="2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0" i="0" lang="en-US" sz="2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Fault Tolerance</a:t>
            </a:r>
            <a:endParaRPr/>
          </a:p>
        </p:txBody>
      </p:sp>
      <p:sp>
        <p:nvSpPr>
          <p:cNvPr id="274" name="Google Shape;274;p38"/>
          <p:cNvSpPr txBox="1"/>
          <p:nvPr>
            <p:ph idx="1" type="body"/>
          </p:nvPr>
        </p:nvSpPr>
        <p:spPr>
          <a:xfrm>
            <a:off x="609600" y="2160587"/>
            <a:ext cx="6348412" cy="388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▶"/>
            </a:pPr>
            <a:r>
              <a:rPr b="0" i="0" lang="en-US" sz="1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Error (bug): falla en el software que produce un resultado </a:t>
            </a:r>
            <a:r>
              <a:rPr b="1" i="0" lang="en-US" sz="1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incorrecto</a:t>
            </a:r>
            <a:r>
              <a:rPr b="0" i="0" lang="en-US" sz="1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 o </a:t>
            </a:r>
            <a:r>
              <a:rPr b="1" i="0" lang="en-US" sz="1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inesperado </a:t>
            </a:r>
            <a:r>
              <a:rPr b="0" i="0" lang="en-US" sz="1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o que hace que el software se comporte de forma inesperada.</a:t>
            </a:r>
            <a:endParaRPr/>
          </a:p>
          <a:p>
            <a:pPr indent="-251459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t/>
            </a:r>
            <a:endParaRPr b="0" i="0" sz="1800" u="none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▶"/>
            </a:pPr>
            <a:r>
              <a:rPr b="0" i="0" lang="en-US" sz="1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Exception Handling (Evitar/administrar las fallas): Es un método para que un sistema pueda alcanzar </a:t>
            </a:r>
            <a:r>
              <a:rPr b="1" i="0" lang="en-US" sz="1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robustez, tolerancia a fallos y recuperación de errores</a:t>
            </a:r>
            <a:endParaRPr/>
          </a:p>
          <a:p>
            <a:pPr indent="-204469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</a:pPr>
            <a:r>
              <a:t/>
            </a:r>
            <a:endParaRPr b="1" i="0" sz="1600" u="none" cap="none" strike="noStrike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162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</a:pPr>
            <a:r>
              <a:t/>
            </a:r>
            <a:endParaRPr b="1" i="0" sz="1600" u="none" cap="none" strike="noStrike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5" name="Google Shape;275;p38"/>
          <p:cNvSpPr/>
          <p:nvPr/>
        </p:nvSpPr>
        <p:spPr>
          <a:xfrm>
            <a:off x="6477000" y="3733800"/>
            <a:ext cx="2667000" cy="1943100"/>
          </a:xfrm>
          <a:prstGeom prst="wedgeEllipseCallout">
            <a:avLst>
              <a:gd fmla="val -54489" name="adj1"/>
              <a:gd fmla="val -28632" name="adj2"/>
            </a:avLst>
          </a:prstGeom>
          <a:solidFill>
            <a:schemeClr val="lt1"/>
          </a:solidFill>
          <a:ln cap="rnd" cmpd="sng" w="1905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rebuchet MS"/>
              <a:buNone/>
            </a:pPr>
            <a:r>
              <a:rPr b="0" i="0" lang="en-US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Robustez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rebuchet MS"/>
              <a:buNone/>
            </a:pPr>
            <a:r>
              <a:rPr b="0" i="0" lang="en-US" sz="12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Nivel que tiene un sistema de funcionar en la presencia de entradas inválidas o condiciones estresantes</a:t>
            </a:r>
            <a:r>
              <a:rPr b="0" i="0" lang="en-US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/>
          </a:p>
        </p:txBody>
      </p:sp>
      <p:sp>
        <p:nvSpPr>
          <p:cNvPr id="276" name="Google Shape;276;p38"/>
          <p:cNvSpPr/>
          <p:nvPr/>
        </p:nvSpPr>
        <p:spPr>
          <a:xfrm>
            <a:off x="609600" y="4914900"/>
            <a:ext cx="2541587" cy="1943100"/>
          </a:xfrm>
          <a:prstGeom prst="wedgeEllipseCallout">
            <a:avLst>
              <a:gd fmla="val 45218" name="adj1"/>
              <a:gd fmla="val -59341" name="adj2"/>
            </a:avLst>
          </a:prstGeom>
          <a:solidFill>
            <a:schemeClr val="lt1"/>
          </a:solidFill>
          <a:ln cap="rnd" cmpd="sng" w="1905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rebuchet MS"/>
              <a:buNone/>
            </a:pPr>
            <a:r>
              <a:rPr b="0" i="0" lang="en-US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Tolerante a fallos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rebuchet MS"/>
              <a:buNone/>
            </a:pPr>
            <a:r>
              <a:rPr b="0" i="0" lang="en-US" sz="12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El sistema controla y contiene los errores de un sistema o componente luego que hayan ocurrido</a:t>
            </a:r>
            <a:r>
              <a:rPr b="0" i="0" lang="en-US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/>
          </a:p>
        </p:txBody>
      </p:sp>
      <p:sp>
        <p:nvSpPr>
          <p:cNvPr id="277" name="Google Shape;277;p38"/>
          <p:cNvSpPr/>
          <p:nvPr/>
        </p:nvSpPr>
        <p:spPr>
          <a:xfrm>
            <a:off x="3509962" y="4800600"/>
            <a:ext cx="2540000" cy="1943100"/>
          </a:xfrm>
          <a:prstGeom prst="wedgeEllipseCallout">
            <a:avLst>
              <a:gd fmla="val 21247" name="adj1"/>
              <a:gd fmla="val -66961" name="adj2"/>
            </a:avLst>
          </a:prstGeom>
          <a:solidFill>
            <a:schemeClr val="lt1"/>
          </a:solidFill>
          <a:ln cap="rnd" cmpd="sng" w="1905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rebuchet MS"/>
              <a:buNone/>
            </a:pPr>
            <a:r>
              <a:rPr b="0" i="0" lang="en-US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Recuperación de errores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rebuchet MS"/>
              <a:buNone/>
            </a:pPr>
            <a:r>
              <a:rPr b="0" i="0" lang="en-US" sz="12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El sistema se corrige de condiciones de error conocidas.</a:t>
            </a:r>
            <a:r>
              <a:rPr b="0" i="0" lang="en-US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9"/>
          <p:cNvSpPr txBox="1"/>
          <p:nvPr>
            <p:ph type="title"/>
          </p:nvPr>
        </p:nvSpPr>
        <p:spPr>
          <a:xfrm>
            <a:off x="609600" y="609600"/>
            <a:ext cx="6348412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b="0" i="0" lang="en-US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Interacción y presentación</a:t>
            </a:r>
            <a:endParaRPr/>
          </a:p>
        </p:txBody>
      </p:sp>
      <p:sp>
        <p:nvSpPr>
          <p:cNvPr id="283" name="Google Shape;283;p39"/>
          <p:cNvSpPr txBox="1"/>
          <p:nvPr>
            <p:ph idx="1" type="body"/>
          </p:nvPr>
        </p:nvSpPr>
        <p:spPr>
          <a:xfrm>
            <a:off x="609600" y="1371600"/>
            <a:ext cx="38862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▶"/>
            </a:pPr>
            <a:r>
              <a:rPr b="0" i="0" lang="en-US" sz="1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Este aspecto trata las formas en las que se estructuran y organizan las interacciones con los usuarios y la presentación de la información.</a:t>
            </a:r>
            <a:endParaRPr/>
          </a:p>
        </p:txBody>
      </p:sp>
      <p:pic>
        <p:nvPicPr>
          <p:cNvPr descr="Image result for ui vs ux meme" id="284" name="Google Shape;28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300" y="3321050"/>
            <a:ext cx="1883129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ui vs ux meme" id="285" name="Google Shape;285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5800" y="3570065"/>
            <a:ext cx="4492625" cy="31053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ui vs ux meme" id="286" name="Google Shape;286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70537" y="1371600"/>
            <a:ext cx="3189287" cy="175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0"/>
          <p:cNvSpPr txBox="1"/>
          <p:nvPr>
            <p:ph type="title"/>
          </p:nvPr>
        </p:nvSpPr>
        <p:spPr>
          <a:xfrm>
            <a:off x="609600" y="609600"/>
            <a:ext cx="6348412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b="0" i="0" lang="en-US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Seguridad</a:t>
            </a:r>
            <a:endParaRPr/>
          </a:p>
        </p:txBody>
      </p:sp>
      <p:sp>
        <p:nvSpPr>
          <p:cNvPr id="292" name="Google Shape;292;p40"/>
          <p:cNvSpPr txBox="1"/>
          <p:nvPr>
            <p:ph idx="1" type="body"/>
          </p:nvPr>
        </p:nvSpPr>
        <p:spPr>
          <a:xfrm>
            <a:off x="609600" y="1752600"/>
            <a:ext cx="6348412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▶"/>
            </a:pPr>
            <a:r>
              <a:rPr b="0" i="0" lang="en-US" sz="1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Este aspecto centra su interés la habilidad del sistema de confiablemente controlar, monitorear y auditar quienes pueden realizar qué acciones en los diferentes recursos del sistema y la habilidad de detectar y recuperarse de fallas en mecanismos de seguridad.</a:t>
            </a:r>
            <a:endParaRPr/>
          </a:p>
          <a:p>
            <a:pPr indent="-251459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t/>
            </a:r>
            <a:endParaRPr b="0" i="0" sz="1800" u="none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▶"/>
            </a:pPr>
            <a:r>
              <a:rPr b="0" i="0" lang="en-US" sz="1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Intereses: políticas, amenazas, responsabilidad, disponibilidad, detección y recuperación.</a:t>
            </a:r>
            <a:endParaRPr/>
          </a:p>
          <a:p>
            <a:pPr indent="-251459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t/>
            </a:r>
            <a:endParaRPr b="0" i="0" sz="1800" u="none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▶"/>
            </a:pPr>
            <a:r>
              <a:rPr b="0" i="0" lang="en-US" sz="1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Tópicos para leer en casa: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▶"/>
            </a:pPr>
            <a:r>
              <a:rPr b="0" i="0" lang="en-US" sz="16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autenticación, autorización, privacidad de la información, integridad, auditoría, disponibilidad, tecnologías de integración de seguridad, administración de la seguridad, infraestructura de seguridad.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1"/>
          <p:cNvSpPr txBox="1"/>
          <p:nvPr>
            <p:ph idx="1" type="subTitle"/>
          </p:nvPr>
        </p:nvSpPr>
        <p:spPr>
          <a:xfrm>
            <a:off x="1247200" y="2356275"/>
            <a:ext cx="5827800" cy="14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US" sz="2400"/>
              <a:t>Ejercicio en clase</a:t>
            </a:r>
            <a:endParaRPr b="1" sz="2400"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/>
              <a:t>Investigar al menos 3 patrones de arquitectura para distribuir componentes que sean </a:t>
            </a:r>
            <a:r>
              <a:rPr lang="en-US"/>
              <a:t>más</a:t>
            </a:r>
            <a:r>
              <a:rPr lang="en-US"/>
              <a:t> usados en la actualidad, escribir su descripción y de que trata.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t/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/>
              <a:t>Escribe al menos 3 conceptos o palabras clave que encontraste durante la investigación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