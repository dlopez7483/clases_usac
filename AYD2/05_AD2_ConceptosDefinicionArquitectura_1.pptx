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slideshare.net/dJdU/all-about-isoiecieee-42010-2014r5" TargetMode="External"/><Relationship Id="rId3" Type="http://schemas.openxmlformats.org/officeDocument/2006/relationships/hyperlink" Target="http://www.iso-architecture.org/ieee-1471/ads/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Presentación en ingles de la ISO: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https://www.slideshare.net/dJdU/all-about-isoiecieee-42010-2014r5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iso-architecture: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http://www.iso-architecture.org/ieee-1471/ads/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e56900323f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e56900323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"/>
          <p:cNvSpPr txBox="1"/>
          <p:nvPr>
            <p:ph type="ctrTitle"/>
          </p:nvPr>
        </p:nvSpPr>
        <p:spPr>
          <a:xfrm>
            <a:off x="315913" y="466725"/>
            <a:ext cx="67818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49313" y="3049588"/>
            <a:ext cx="6248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2240"/>
              <a:buFont typeface="Noto Sans Symbols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820"/>
              <a:buFont typeface="Noto Sans Symbols"/>
              <a:buChar char="●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Noto Sans Symbols"/>
              <a:buChar char="●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2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p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4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folHlink"/>
              </a:buClr>
              <a:buSzPts val="1120"/>
              <a:buFont typeface="Noto Sans Symbols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5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5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"/>
          <p:cNvSpPr txBox="1"/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" name="Google Shape;102;p6"/>
          <p:cNvSpPr txBox="1"/>
          <p:nvPr>
            <p:ph idx="1" type="body"/>
          </p:nvPr>
        </p:nvSpPr>
        <p:spPr>
          <a:xfrm>
            <a:off x="457200" y="1719262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Noto Sans Symbols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4169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820"/>
              <a:buFont typeface="Noto Sans Symbols"/>
              <a:buChar char="●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835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Noto Sans Symbols"/>
              <a:buChar char="●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p6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6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" name="Google Shape;108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None/>
              <a:def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Noto Sans Symbols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●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861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9879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28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9879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28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9879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28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9879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28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9879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28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None/>
              <a:defRPr b="1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  <a:defRPr b="1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Noto Sans Symbols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280"/>
              <a:buFont typeface="Noto Sans Symbols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●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861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9879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28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9879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28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9879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28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9879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28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9879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folHlink"/>
              </a:buClr>
              <a:buSzPts val="128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7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7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"/>
          <p:cNvSpPr txBox="1"/>
          <p:nvPr>
            <p:ph type="title"/>
          </p:nvPr>
        </p:nvSpPr>
        <p:spPr>
          <a:xfrm rot="5400000">
            <a:off x="4653757" y="2097881"/>
            <a:ext cx="6008687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p8"/>
          <p:cNvSpPr txBox="1"/>
          <p:nvPr>
            <p:ph idx="1" type="body"/>
          </p:nvPr>
        </p:nvSpPr>
        <p:spPr>
          <a:xfrm rot="5400000">
            <a:off x="462757" y="116682"/>
            <a:ext cx="6008687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Noto Sans Symbols"/>
              <a:buChar char="●"/>
              <a:defRPr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4169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820"/>
              <a:buFont typeface="Noto Sans Symbols"/>
              <a:buChar char="●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835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Noto Sans Symbols"/>
              <a:buChar char="●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8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p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0" name="Google Shape;120;p8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"/>
          <p:cNvSpPr txBox="1"/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3" name="Google Shape;123;p9"/>
          <p:cNvSpPr txBox="1"/>
          <p:nvPr>
            <p:ph idx="1" type="body"/>
          </p:nvPr>
        </p:nvSpPr>
        <p:spPr>
          <a:xfrm rot="5400000">
            <a:off x="2366169" y="-189707"/>
            <a:ext cx="44116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Noto Sans Symbols"/>
              <a:buChar char="●"/>
              <a:defRPr sz="3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4169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820"/>
              <a:buFont typeface="Noto Sans Symbols"/>
              <a:buChar char="●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835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Noto Sans Symbols"/>
              <a:buChar char="●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p9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9" name="Google Shape;129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2240"/>
              <a:buFont typeface="Noto Sans Symbols"/>
              <a:buNone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960"/>
              <a:buFont typeface="Noto Sans Symbols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84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675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folHlink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folHlink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folHlink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folHlink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folHlink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1" name="Google Shape;131;p10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2" name="Google Shape;132;p1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3" name="Google Shape;133;p10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6" name="Google Shape;136;p1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2240"/>
              <a:buFont typeface="Noto Sans Symbols"/>
              <a:buChar char="●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306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1960"/>
              <a:buFont typeface="Noto Sans Symbols"/>
              <a:buChar char="●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52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1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980"/>
              <a:buFont typeface="Noto Sans Symbols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84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675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folHlink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folHlink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folHlink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folHlink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folHlink"/>
              </a:buClr>
              <a:buSzPts val="720"/>
              <a:buFont typeface="Noto Sans Symbols"/>
              <a:buNone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8" name="Google Shape;138;p11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9" name="Google Shape;139;p1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0" name="Google Shape;140;p11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"/>
          <p:cNvSpPr txBox="1"/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3" name="Google Shape;143;p12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4" name="Google Shape;144;p1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5" name="Google Shape;145;p12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"/>
          <p:cNvSpPr txBox="1"/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13"/>
          <p:cNvSpPr txBox="1"/>
          <p:nvPr>
            <p:ph idx="1" type="body"/>
          </p:nvPr>
        </p:nvSpPr>
        <p:spPr>
          <a:xfrm>
            <a:off x="457200" y="1719263"/>
            <a:ext cx="4038600" cy="441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●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8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0039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0039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0039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004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004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9" name="Google Shape;149;p13"/>
          <p:cNvSpPr txBox="1"/>
          <p:nvPr>
            <p:ph idx="2" type="body"/>
          </p:nvPr>
        </p:nvSpPr>
        <p:spPr>
          <a:xfrm>
            <a:off x="4648200" y="1719263"/>
            <a:ext cx="4038600" cy="441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Char char="●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528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8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0039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0039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0039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004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004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0" name="Google Shape;150;p13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1" name="Google Shape;151;p1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2" name="Google Shape;152;p13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Google Shape;6;p1"/>
          <p:cNvCxnSpPr/>
          <p:nvPr/>
        </p:nvCxnSpPr>
        <p:spPr>
          <a:xfrm>
            <a:off x="7315200" y="1066800"/>
            <a:ext cx="0" cy="449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grpSp>
        <p:nvGrpSpPr>
          <p:cNvPr id="7" name="Google Shape;7;p1"/>
          <p:cNvGrpSpPr/>
          <p:nvPr/>
        </p:nvGrpSpPr>
        <p:grpSpPr>
          <a:xfrm>
            <a:off x="7493000" y="2992437"/>
            <a:ext cx="1338262" cy="2189162"/>
            <a:chOff x="7467600" y="2992437"/>
            <a:chExt cx="1338262" cy="2189162"/>
          </a:xfrm>
        </p:grpSpPr>
        <p:sp>
          <p:nvSpPr>
            <p:cNvPr id="8" name="Google Shape;8;p1"/>
            <p:cNvSpPr/>
            <p:nvPr/>
          </p:nvSpPr>
          <p:spPr>
            <a:xfrm>
              <a:off x="7467600" y="2992437"/>
              <a:ext cx="201612" cy="201612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7751762" y="2992437"/>
              <a:ext cx="201612" cy="201612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0;p1"/>
            <p:cNvSpPr/>
            <p:nvPr/>
          </p:nvSpPr>
          <p:spPr>
            <a:xfrm>
              <a:off x="8035925" y="2992437"/>
              <a:ext cx="201612" cy="201612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1"/>
            <p:cNvSpPr/>
            <p:nvPr/>
          </p:nvSpPr>
          <p:spPr>
            <a:xfrm>
              <a:off x="7467600" y="3276600"/>
              <a:ext cx="201612" cy="201612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7751762" y="3276600"/>
              <a:ext cx="201612" cy="201612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8035925" y="3276600"/>
              <a:ext cx="201612" cy="201612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8320087" y="3276600"/>
              <a:ext cx="201612" cy="20161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7467600" y="3560762"/>
              <a:ext cx="201612" cy="201612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7751762" y="3560762"/>
              <a:ext cx="201612" cy="201612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8035925" y="3560762"/>
              <a:ext cx="201612" cy="20161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8320087" y="3560762"/>
              <a:ext cx="201612" cy="20161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8604250" y="3560762"/>
              <a:ext cx="201612" cy="20161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7467600" y="3843337"/>
              <a:ext cx="201612" cy="203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7751762" y="3843337"/>
              <a:ext cx="201612" cy="203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8035925" y="3843337"/>
              <a:ext cx="201612" cy="203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8320087" y="3843337"/>
              <a:ext cx="201612" cy="203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7467600" y="4127500"/>
              <a:ext cx="201612" cy="203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7751762" y="4127500"/>
              <a:ext cx="201612" cy="203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8035925" y="4127500"/>
              <a:ext cx="201612" cy="203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8320087" y="4127500"/>
              <a:ext cx="201612" cy="203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8604250" y="4127500"/>
              <a:ext cx="201612" cy="2032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7467600" y="4411662"/>
              <a:ext cx="201612" cy="20161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7751762" y="4411662"/>
              <a:ext cx="201612" cy="20161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8035925" y="4411662"/>
              <a:ext cx="201612" cy="20161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8320087" y="4411662"/>
              <a:ext cx="201612" cy="201612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7467600" y="4695825"/>
              <a:ext cx="201612" cy="20161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7751762" y="4695825"/>
              <a:ext cx="201612" cy="20161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8035925" y="4695825"/>
              <a:ext cx="201612" cy="201612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1"/>
            <p:cNvSpPr/>
            <p:nvPr/>
          </p:nvSpPr>
          <p:spPr>
            <a:xfrm>
              <a:off x="8320087" y="4695825"/>
              <a:ext cx="201612" cy="201612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1"/>
            <p:cNvSpPr/>
            <p:nvPr/>
          </p:nvSpPr>
          <p:spPr>
            <a:xfrm>
              <a:off x="7751762" y="4979987"/>
              <a:ext cx="201612" cy="201612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1"/>
            <p:cNvSpPr/>
            <p:nvPr/>
          </p:nvSpPr>
          <p:spPr>
            <a:xfrm>
              <a:off x="8320087" y="4979987"/>
              <a:ext cx="201612" cy="201612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9" name="Google Shape;39;p1"/>
          <p:cNvCxnSpPr/>
          <p:nvPr/>
        </p:nvCxnSpPr>
        <p:spPr>
          <a:xfrm>
            <a:off x="304800" y="2819400"/>
            <a:ext cx="82296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0" name="Google Shape;40;p1"/>
          <p:cNvSpPr txBox="1"/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1"/>
          <p:cNvSpPr txBox="1"/>
          <p:nvPr>
            <p:ph idx="1" type="body"/>
          </p:nvPr>
        </p:nvSpPr>
        <p:spPr>
          <a:xfrm>
            <a:off x="457200" y="1719262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Noto Sans Symbols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4169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820"/>
              <a:buFont typeface="Noto Sans Symbols"/>
              <a:buChar char="●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835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Noto Sans Symbols"/>
              <a:buChar char="●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1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1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3"/>
          <p:cNvCxnSpPr/>
          <p:nvPr/>
        </p:nvCxnSpPr>
        <p:spPr>
          <a:xfrm>
            <a:off x="7962900" y="152400"/>
            <a:ext cx="0" cy="152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3" name="Google Shape;53;p3"/>
          <p:cNvSpPr txBox="1"/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3"/>
          <p:cNvSpPr txBox="1"/>
          <p:nvPr>
            <p:ph idx="1" type="body"/>
          </p:nvPr>
        </p:nvSpPr>
        <p:spPr>
          <a:xfrm>
            <a:off x="457200" y="1719262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Noto Sans Symbols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4169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820"/>
              <a:buFont typeface="Noto Sans Symbols"/>
              <a:buChar char="●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835" lvl="2" marL="1371600" marR="0" rtl="0" algn="l">
              <a:spcBef>
                <a:spcPts val="460"/>
              </a:spcBef>
              <a:spcAft>
                <a:spcPts val="0"/>
              </a:spcAft>
              <a:buClr>
                <a:schemeClr val="accent1"/>
              </a:buClr>
              <a:buSzPts val="1610"/>
              <a:buFont typeface="Noto Sans Symbols"/>
              <a:buChar char="●"/>
              <a:defRPr b="0" i="0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302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302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302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302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3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3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grpSp>
        <p:nvGrpSpPr>
          <p:cNvPr id="58" name="Google Shape;58;p3"/>
          <p:cNvGrpSpPr/>
          <p:nvPr/>
        </p:nvGrpSpPr>
        <p:grpSpPr>
          <a:xfrm>
            <a:off x="8153400" y="152400"/>
            <a:ext cx="792162" cy="1295400"/>
            <a:chOff x="8153400" y="1524000"/>
            <a:chExt cx="838200" cy="1371600"/>
          </a:xfrm>
        </p:grpSpPr>
        <p:sp>
          <p:nvSpPr>
            <p:cNvPr id="59" name="Google Shape;59;p3"/>
            <p:cNvSpPr/>
            <p:nvPr/>
          </p:nvSpPr>
          <p:spPr>
            <a:xfrm>
              <a:off x="8153400" y="1524000"/>
              <a:ext cx="127000" cy="1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8331200" y="1524000"/>
              <a:ext cx="125412" cy="1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8509000" y="1524000"/>
              <a:ext cx="122237" cy="1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8153400" y="1701800"/>
              <a:ext cx="127000" cy="12223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8331200" y="1701800"/>
              <a:ext cx="125412" cy="12223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8509000" y="1701800"/>
              <a:ext cx="122237" cy="12223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8686800" y="1701800"/>
              <a:ext cx="122237" cy="12223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8153400" y="1879600"/>
              <a:ext cx="127000" cy="12223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8331200" y="1879600"/>
              <a:ext cx="125412" cy="12223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8509000" y="1879600"/>
              <a:ext cx="122237" cy="12223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8686800" y="1879600"/>
              <a:ext cx="122237" cy="12223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8864600" y="1879600"/>
              <a:ext cx="127000" cy="12223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8153400" y="2057400"/>
              <a:ext cx="127000" cy="1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8331200" y="2057400"/>
              <a:ext cx="125412" cy="127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8509000" y="2057400"/>
              <a:ext cx="122237" cy="127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8686800" y="2057400"/>
              <a:ext cx="122237" cy="127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8153400" y="2235200"/>
              <a:ext cx="127000" cy="127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8331200" y="2235200"/>
              <a:ext cx="125412" cy="127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8509000" y="2235200"/>
              <a:ext cx="122237" cy="127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8686800" y="2235200"/>
              <a:ext cx="122237" cy="127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8864600" y="2235200"/>
              <a:ext cx="127000" cy="1270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8153400" y="2413000"/>
              <a:ext cx="127000" cy="12541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8331200" y="2413000"/>
              <a:ext cx="125412" cy="12541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8509000" y="2413000"/>
              <a:ext cx="122237" cy="12541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3"/>
            <p:cNvSpPr/>
            <p:nvPr/>
          </p:nvSpPr>
          <p:spPr>
            <a:xfrm>
              <a:off x="8686800" y="2413000"/>
              <a:ext cx="122237" cy="125412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3"/>
            <p:cNvSpPr/>
            <p:nvPr/>
          </p:nvSpPr>
          <p:spPr>
            <a:xfrm>
              <a:off x="8153400" y="2590800"/>
              <a:ext cx="127000" cy="12223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8331200" y="2590800"/>
              <a:ext cx="125412" cy="12223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8509000" y="2590800"/>
              <a:ext cx="122237" cy="12223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8686800" y="2590800"/>
              <a:ext cx="122237" cy="12223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8331200" y="2768600"/>
              <a:ext cx="125412" cy="1270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8686800" y="2768600"/>
              <a:ext cx="122237" cy="12700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jpg"/><Relationship Id="rId6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4"/>
          <p:cNvSpPr txBox="1"/>
          <p:nvPr>
            <p:ph type="ctrTitle"/>
          </p:nvPr>
        </p:nvSpPr>
        <p:spPr>
          <a:xfrm>
            <a:off x="315912" y="466725"/>
            <a:ext cx="67818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¿Qué es la Arquitectura del software?</a:t>
            </a:r>
            <a:endParaRPr/>
          </a:p>
        </p:txBody>
      </p:sp>
      <p:sp>
        <p:nvSpPr>
          <p:cNvPr id="158" name="Google Shape;158;p14"/>
          <p:cNvSpPr txBox="1"/>
          <p:nvPr>
            <p:ph idx="1" type="subTitle"/>
          </p:nvPr>
        </p:nvSpPr>
        <p:spPr>
          <a:xfrm>
            <a:off x="849312" y="3125787"/>
            <a:ext cx="6248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40"/>
              <a:buFont typeface="Noto Sans Symbols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Análisis y diseño de sistemas 2</a:t>
            </a:r>
            <a:endParaRPr/>
          </a:p>
          <a:p>
            <a:pPr indent="0" lvl="0" marL="0" marR="0" rtl="0" algn="r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224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://3.bp.blogspot.com/_5XxDXgH4TQI/S_GLomVll5I/AAAAAAAAACU/tN2R1KQfGWI/s1600/Architecture_Venn.jpg" id="163" name="Google Shape;16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6800" y="609600"/>
            <a:ext cx="6686550" cy="5595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"/>
          <p:cNvSpPr txBox="1"/>
          <p:nvPr>
            <p:ph idx="1" type="body"/>
          </p:nvPr>
        </p:nvSpPr>
        <p:spPr>
          <a:xfrm>
            <a:off x="419100" y="1371600"/>
            <a:ext cx="5181600" cy="3646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40"/>
              <a:buFont typeface="Noto Sans Symbols"/>
              <a:buNone/>
            </a:pPr>
            <a:r>
              <a:rPr b="0" i="1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b="1" i="1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Organización</a:t>
            </a:r>
            <a:r>
              <a:rPr b="0" i="1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fundamental de un </a:t>
            </a:r>
            <a:r>
              <a:rPr b="1" i="1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</a:t>
            </a:r>
            <a:r>
              <a:rPr b="0" i="1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incorporado a sus </a:t>
            </a:r>
            <a:r>
              <a:rPr b="0" i="1" lang="en-US" sz="3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componentes</a:t>
            </a:r>
            <a:r>
              <a:rPr b="0" i="1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3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relación entre ellos</a:t>
            </a:r>
            <a:r>
              <a:rPr b="0" i="1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3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ambiente</a:t>
            </a:r>
            <a:r>
              <a:rPr b="0" i="1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y los principios gobernando su diseño y evolución.”</a:t>
            </a:r>
            <a:endParaRPr/>
          </a:p>
        </p:txBody>
      </p:sp>
      <p:sp>
        <p:nvSpPr>
          <p:cNvPr id="169" name="Google Shape;169;p16"/>
          <p:cNvSpPr/>
          <p:nvPr/>
        </p:nvSpPr>
        <p:spPr>
          <a:xfrm>
            <a:off x="4665662" y="369887"/>
            <a:ext cx="2895600" cy="1371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5C8A8A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una colección de </a:t>
            </a: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componentes</a:t>
            </a:r>
            <a:r>
              <a:rPr b="0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organizados para alcanzar una función o conjunto de funciones específicas</a:t>
            </a:r>
            <a:endParaRPr/>
          </a:p>
        </p:txBody>
      </p:sp>
      <p:sp>
        <p:nvSpPr>
          <p:cNvPr id="170" name="Google Shape;170;p16"/>
          <p:cNvSpPr/>
          <p:nvPr/>
        </p:nvSpPr>
        <p:spPr>
          <a:xfrm>
            <a:off x="5867400" y="2870200"/>
            <a:ext cx="2667000" cy="1295400"/>
          </a:xfrm>
          <a:prstGeom prst="wedgeEllipseCallout">
            <a:avLst>
              <a:gd fmla="val -605" name="adj1"/>
              <a:gd fmla="val -4569" name="adj2"/>
            </a:avLst>
          </a:prstGeom>
          <a:gradFill>
            <a:gsLst>
              <a:gs pos="0">
                <a:srgbClr val="FFFFC3"/>
              </a:gs>
              <a:gs pos="35000">
                <a:srgbClr val="FFFFD4"/>
              </a:gs>
              <a:gs pos="100000">
                <a:srgbClr val="FFFFED"/>
              </a:gs>
            </a:gsLst>
            <a:lin ang="16200000" scaled="0"/>
          </a:gradFill>
          <a:ln cap="flat" cmpd="sng" w="9525">
            <a:solidFill>
              <a:srgbClr val="DEDEA5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sistema existe para cumplir una o más </a:t>
            </a: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misiones</a:t>
            </a:r>
            <a:r>
              <a:rPr b="0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 su ambiente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2849562" y="5119687"/>
            <a:ext cx="6051550" cy="1452562"/>
          </a:xfrm>
          <a:prstGeom prst="rect">
            <a:avLst/>
          </a:prstGeom>
          <a:gradFill>
            <a:gsLst>
              <a:gs pos="0">
                <a:srgbClr val="B8E2E2"/>
              </a:gs>
              <a:gs pos="35000">
                <a:srgbClr val="CEEAEA"/>
              </a:gs>
              <a:gs pos="100000">
                <a:srgbClr val="ECF7F7"/>
              </a:gs>
            </a:gsLst>
            <a:lin ang="16200000" scaled="0"/>
          </a:gradFill>
          <a:ln cap="flat" cmpd="sng" w="9525">
            <a:solidFill>
              <a:srgbClr val="629797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Ambiente: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determina el entorno y circunstancias de influencia sobre el desarrollo y operación del sistema, incluye aspectos tecnológicos, de negocio, organizacionales, políticos, económicos, regulatorios, ecológicos e influencias sociales.</a:t>
            </a:r>
            <a:endParaRPr/>
          </a:p>
        </p:txBody>
      </p:sp>
      <p:cxnSp>
        <p:nvCxnSpPr>
          <p:cNvPr id="172" name="Google Shape;172;p16"/>
          <p:cNvCxnSpPr/>
          <p:nvPr/>
        </p:nvCxnSpPr>
        <p:spPr>
          <a:xfrm>
            <a:off x="7200900" y="4267200"/>
            <a:ext cx="0" cy="750887"/>
          </a:xfrm>
          <a:prstGeom prst="straightConnector1">
            <a:avLst/>
          </a:prstGeom>
          <a:noFill/>
          <a:ln cap="flat" cmpd="sng" w="9525">
            <a:solidFill>
              <a:srgbClr val="CCCC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173" name="Google Shape;173;p16"/>
          <p:cNvCxnSpPr/>
          <p:nvPr/>
        </p:nvCxnSpPr>
        <p:spPr>
          <a:xfrm flipH="1">
            <a:off x="5600700" y="1741487"/>
            <a:ext cx="512762" cy="544512"/>
          </a:xfrm>
          <a:prstGeom prst="straightConnector1">
            <a:avLst/>
          </a:prstGeom>
          <a:noFill/>
          <a:ln cap="flat" cmpd="sng" w="9525">
            <a:solidFill>
              <a:srgbClr val="CCCC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174" name="Google Shape;174;p16"/>
          <p:cNvSpPr txBox="1"/>
          <p:nvPr/>
        </p:nvSpPr>
        <p:spPr>
          <a:xfrm>
            <a:off x="228600" y="185737"/>
            <a:ext cx="2620962" cy="862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200"/>
              <a:buFont typeface="Arial"/>
              <a:buNone/>
            </a:pPr>
            <a:r>
              <a:rPr b="1" i="1" lang="en-US" sz="3200" u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Arquitectura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[IEEE 1471]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"/>
          <p:cNvSpPr txBox="1"/>
          <p:nvPr>
            <p:ph idx="1" type="body"/>
          </p:nvPr>
        </p:nvSpPr>
        <p:spPr>
          <a:xfrm>
            <a:off x="457200" y="1600200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b="0" i="1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arquitectura captura la estructura de un sistema en términos de componentes y como éstos interactúan, define un diseño de reglas amplio del sistema y considera como éste puede cambiar</a:t>
            </a: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289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4691062" y="4945062"/>
            <a:ext cx="3632200" cy="141605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BCBCB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componente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puede ser lógico, físico, independiente de la tecnología o específico de una tecnología.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468312" y="2863850"/>
            <a:ext cx="3860800" cy="25146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BCBCB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Componente: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Parte modular de un sistema que encapsula su contenido, su manifestación es reemplazable dentro de su ambiente.  Un componente define su comportamiento en términos de interfaces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UML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qatestlab.com/assets/Component-Testing-cor1_2.png" id="182" name="Google Shape;182;p17"/>
          <p:cNvPicPr preferRelativeResize="0"/>
          <p:nvPr/>
        </p:nvPicPr>
        <p:blipFill rotWithShape="1">
          <a:blip r:embed="rId3">
            <a:alphaModFix/>
          </a:blip>
          <a:srcRect b="0" l="0" r="0" t="17646"/>
          <a:stretch/>
        </p:blipFill>
        <p:spPr>
          <a:xfrm>
            <a:off x="5386387" y="2857500"/>
            <a:ext cx="258445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7"/>
          <p:cNvSpPr txBox="1"/>
          <p:nvPr/>
        </p:nvSpPr>
        <p:spPr>
          <a:xfrm>
            <a:off x="457200" y="122237"/>
            <a:ext cx="7543800" cy="1128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00"/>
              <a:buFont typeface="Arial"/>
              <a:buNone/>
            </a:pPr>
            <a:r>
              <a:rPr b="1" i="0" lang="en-US" sz="39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Arquitectura de software</a:t>
            </a:r>
            <a:br>
              <a:rPr b="1" i="0" lang="en-US" sz="39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Definición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7696200" y="6361112"/>
            <a:ext cx="12192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 UML 2.0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"/>
          <p:cNvSpPr txBox="1"/>
          <p:nvPr/>
        </p:nvSpPr>
        <p:spPr>
          <a:xfrm>
            <a:off x="457200" y="122237"/>
            <a:ext cx="7543800" cy="1128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00"/>
              <a:buFont typeface="Arial"/>
              <a:buNone/>
            </a:pPr>
            <a:r>
              <a:rPr b="1" i="0" lang="en-US" sz="39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Arquitectura de software</a:t>
            </a:r>
            <a:br>
              <a:rPr b="1" i="0" lang="en-US" sz="39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Definición</a:t>
            </a:r>
            <a:endParaRPr/>
          </a:p>
        </p:txBody>
      </p:sp>
      <p:sp>
        <p:nvSpPr>
          <p:cNvPr id="190" name="Google Shape;190;p18"/>
          <p:cNvSpPr txBox="1"/>
          <p:nvPr>
            <p:ph idx="1" type="body"/>
          </p:nvPr>
        </p:nvSpPr>
        <p:spPr>
          <a:xfrm>
            <a:off x="457200" y="1719262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80"/>
              <a:buFont typeface="Noto Sans Symbols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Arquitectura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 un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conjunto de decisiones significativas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acerca de la organización de un sistema de software, la selección de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elementos estructurales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 las interfaces de las cuales el sistema está compuesto, junto con su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comportamiento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especificado por la colaboración entre los elementos, la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composición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estos elementos en sub-sistemas progresivamente más grandes, y el </a:t>
            </a: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estilo arquitectónico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guía la organización, los elementos, sus interfaces, sus colaboraciones y su composición.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7315200" y="5645150"/>
            <a:ext cx="1236662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[Kruchten]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4570412" y="6115050"/>
            <a:ext cx="4116387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Arial"/>
              <a:buNone/>
            </a:pPr>
            <a:r>
              <a:rPr b="0" i="0" lang="en-US" sz="10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Philippe Kruchten, </a:t>
            </a:r>
            <a:r>
              <a:rPr b="0" i="1" lang="en-US" sz="10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The Rational Unified Process: An Introduction</a:t>
            </a:r>
            <a:r>
              <a:rPr b="0" i="0" lang="en-US" sz="10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, Third Edition. Addison-Wesley Professional 2003.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 u="none">
              <a:solidFill>
                <a:srgbClr val="22222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000"/>
              <a:buFont typeface="Arial"/>
              <a:buNone/>
            </a:pPr>
            <a:r>
              <a:rPr b="1" i="0" lang="en-US" sz="10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Creador del modelo 4+1 vistas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"/>
          <p:cNvSpPr txBox="1"/>
          <p:nvPr/>
        </p:nvSpPr>
        <p:spPr>
          <a:xfrm>
            <a:off x="457200" y="122237"/>
            <a:ext cx="7543800" cy="1128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00"/>
              <a:buFont typeface="Arial"/>
              <a:buNone/>
            </a:pPr>
            <a:r>
              <a:rPr b="1" i="0" lang="en-US" sz="39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Arquitectura de software</a:t>
            </a:r>
            <a:br>
              <a:rPr b="1" i="0" lang="en-US" sz="39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Metas de la arquitectura</a:t>
            </a:r>
            <a:endParaRPr/>
          </a:p>
        </p:txBody>
      </p:sp>
      <p:sp>
        <p:nvSpPr>
          <p:cNvPr id="198" name="Google Shape;198;p19"/>
          <p:cNvSpPr txBox="1"/>
          <p:nvPr>
            <p:ph idx="1" type="body"/>
          </p:nvPr>
        </p:nvSpPr>
        <p:spPr>
          <a:xfrm>
            <a:off x="457200" y="1719262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40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✓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Exponer la estructura del sistema escondiendo detalles de implementación.</a:t>
            </a:r>
            <a:endParaRPr/>
          </a:p>
          <a:p>
            <a:pPr indent="-254000" lvl="0" marL="3429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✓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realización de todos los casos de uso y escenarios.</a:t>
            </a:r>
            <a:endParaRPr/>
          </a:p>
          <a:p>
            <a:pPr indent="-254000" lvl="0" marL="3429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✓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Cumplir los requerimientos de los involucrados (stakeholders)</a:t>
            </a:r>
            <a:endParaRPr/>
          </a:p>
          <a:p>
            <a:pPr indent="-254000" lvl="0" marL="3429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✓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Manejar tanto requerimientos funcionales como requerimientos de calidad.</a:t>
            </a:r>
            <a:endParaRPr/>
          </a:p>
          <a:p>
            <a:pPr indent="-2540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4343400" y="5868987"/>
            <a:ext cx="46291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0" i="1" lang="en-US" sz="14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Microsoft MSDN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https://msdn.microsoft.com/en-us/library/ee658098.aspx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 txBox="1"/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Descripción de la arquitectura</a:t>
            </a:r>
            <a:br>
              <a:rPr b="1" i="0" lang="en-US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ISO/IEC/IEEE 42010:</a:t>
            </a:r>
            <a:r>
              <a:rPr b="1" i="0" lang="en-US" sz="3900" u="none" cap="none" strike="noStrike">
                <a:solidFill>
                  <a:srgbClr val="6AA84F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r>
              <a:rPr lang="en-US">
                <a:solidFill>
                  <a:srgbClr val="6AA84F"/>
                </a:solidFill>
              </a:rPr>
              <a:t>22</a:t>
            </a:r>
            <a:endParaRPr>
              <a:solidFill>
                <a:srgbClr val="6AA84F"/>
              </a:solidFill>
            </a:endParaRPr>
          </a:p>
        </p:txBody>
      </p:sp>
      <p:sp>
        <p:nvSpPr>
          <p:cNvPr id="205" name="Google Shape;205;p20"/>
          <p:cNvSpPr txBox="1"/>
          <p:nvPr>
            <p:ph idx="1" type="body"/>
          </p:nvPr>
        </p:nvSpPr>
        <p:spPr>
          <a:xfrm>
            <a:off x="457200" y="1719262"/>
            <a:ext cx="8229600" cy="441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descripción de la arquitectura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expresa la arquitectura de un sistema de interés.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descripción de la arquitectura contiene 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múltiples vistas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vista se adhiere a un 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punto de vista</a:t>
            </a: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(viewpoint)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vista consiste de </a:t>
            </a:r>
            <a:r>
              <a:rPr b="1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</a:t>
            </a:r>
            <a:endParaRPr/>
          </a:p>
          <a:p>
            <a:pPr indent="-2540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None/>
            </a:pPr>
            <a:r>
              <a:t/>
            </a:r>
            <a:endParaRPr b="0" i="0" sz="2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●"/>
            </a:pPr>
            <a:r>
              <a:rPr b="0" i="0" lang="en-US" sz="2000" u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La </a:t>
            </a:r>
            <a:r>
              <a:rPr b="1" i="0" lang="en-US" sz="2000" u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ISO/IEC/IEEE 42010</a:t>
            </a:r>
            <a:r>
              <a:rPr b="0" i="0" lang="en-US" sz="2000" u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especifica los requerimientos mínimos para:</a:t>
            </a:r>
            <a:endParaRPr/>
          </a:p>
          <a:p>
            <a:pPr indent="-276542" lvl="1" marL="69215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None/>
            </a:pPr>
            <a:r>
              <a:t/>
            </a:r>
            <a:endParaRPr b="0" i="0" sz="1600" u="none" cap="none" strike="noStrik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7662" lvl="1" marL="69215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●"/>
            </a:pPr>
            <a:r>
              <a:rPr b="1" i="0" lang="en-US" sz="16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Descripciones de la arquitectura</a:t>
            </a:r>
            <a:endParaRPr/>
          </a:p>
          <a:p>
            <a:pPr indent="-347662" lvl="1" marL="69215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●"/>
            </a:pPr>
            <a:r>
              <a:rPr b="1" i="0" lang="en-US" sz="16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Frameworks de arquitectura</a:t>
            </a:r>
            <a:endParaRPr/>
          </a:p>
          <a:p>
            <a:pPr indent="-347662" lvl="1" marL="69215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●"/>
            </a:pPr>
            <a:r>
              <a:rPr b="1" i="0" lang="en-US" sz="16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Descripción de lenguajes de arquitectura</a:t>
            </a:r>
            <a:endParaRPr/>
          </a:p>
          <a:p>
            <a:pPr indent="-347662" lvl="1" marL="69215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120"/>
              <a:buFont typeface="Noto Sans Symbols"/>
              <a:buChar char="●"/>
            </a:pPr>
            <a:r>
              <a:rPr b="1" i="0" lang="en-US" sz="1600" u="none" cap="none" strike="noStrik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Puntos de vista de la arquitectura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rPr b="0" i="0" lang="en-US" sz="1600" u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							*Auto-lectura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 txBox="1"/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Ejemplos de Interesados</a:t>
            </a:r>
            <a:br>
              <a:rPr b="1" i="0" lang="en-US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(Stakeholders)</a:t>
            </a:r>
            <a:endParaRPr/>
          </a:p>
        </p:txBody>
      </p:sp>
      <p:sp>
        <p:nvSpPr>
          <p:cNvPr id="211" name="Google Shape;211;p21"/>
          <p:cNvSpPr txBox="1"/>
          <p:nvPr>
            <p:ph idx="1" type="body"/>
          </p:nvPr>
        </p:nvSpPr>
        <p:spPr>
          <a:xfrm>
            <a:off x="457200" y="1719262"/>
            <a:ext cx="3581400" cy="441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Compradores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Owners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Usuarios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Operadores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Arquitectos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Ingenieros de sistemas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Aseguramiento de calidad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Socios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Usuarios de energía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Analistas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4449762" y="1719262"/>
            <a:ext cx="4237037" cy="441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Consumidores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Desarrolladores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Diseñadores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Operaciones (mantenimiento)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Proveedores de servicio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Subcontractors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Managers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Char char="●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CTO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5410200" y="5802312"/>
            <a:ext cx="3390900" cy="657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00"/>
              <a:buFont typeface="Arial"/>
              <a:buNone/>
            </a:pPr>
            <a:r>
              <a:rPr b="1" i="0" lang="en-US" sz="39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[IEEE 42010 ]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Ejemplos de Intereses</a:t>
            </a:r>
            <a:br>
              <a:rPr b="1" i="0" lang="en-US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(concerns)</a:t>
            </a:r>
            <a:endParaRPr/>
          </a:p>
        </p:txBody>
      </p:sp>
      <p:sp>
        <p:nvSpPr>
          <p:cNvPr id="219" name="Google Shape;219;p22"/>
          <p:cNvSpPr txBox="1"/>
          <p:nvPr>
            <p:ph idx="1" type="body"/>
          </p:nvPr>
        </p:nvSpPr>
        <p:spPr>
          <a:xfrm>
            <a:off x="304800" y="1460500"/>
            <a:ext cx="3352800" cy="5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Funcionalidad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Factibilidad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Uso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Propósito del sistema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Funcionalidades del sistema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Propiedades del Sistema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Limitaciones conocidas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Estructura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Comportamiento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Performance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Calidad del servicio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Flexibilidad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Agilidad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Modificabilidad</a:t>
            </a:r>
            <a:endParaRPr/>
          </a:p>
        </p:txBody>
      </p:sp>
      <p:sp>
        <p:nvSpPr>
          <p:cNvPr id="220" name="Google Shape;220;p22"/>
          <p:cNvSpPr txBox="1"/>
          <p:nvPr>
            <p:ph idx="2" type="body"/>
          </p:nvPr>
        </p:nvSpPr>
        <p:spPr>
          <a:xfrm>
            <a:off x="3505200" y="1460500"/>
            <a:ext cx="3200400" cy="5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Utilización de recursos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Confiabilidad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Seguridad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Aseguramiento de la información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Complejidad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Evolución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Apertura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Concurrencia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Autonomía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Costo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Calendario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Comunicación inter-proceso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Deadlock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6248400" y="1503362"/>
            <a:ext cx="2743200" cy="5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Cambio de estados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Integración con subsistemas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Accesibilidad de la información y datos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Privacidad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Cumplimiento de regulaciones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Garantía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Metas de negocio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Estrategias de negocio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Experiencia del usuarios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Mantenimiento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260"/>
              <a:buFont typeface="Noto Sans Symbols"/>
              <a:buChar char="●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Asequibilidad y desechabilidad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3"/>
          <p:cNvSpPr txBox="1"/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Fundamentos conceptuales</a:t>
            </a:r>
            <a:endParaRPr/>
          </a:p>
        </p:txBody>
      </p:sp>
      <p:pic>
        <p:nvPicPr>
          <p:cNvPr id="227" name="Google Shape;227;p23"/>
          <p:cNvPicPr preferRelativeResize="0"/>
          <p:nvPr/>
        </p:nvPicPr>
        <p:blipFill rotWithShape="1">
          <a:blip r:embed="rId3">
            <a:alphaModFix/>
          </a:blip>
          <a:srcRect b="5275" l="2760" r="3973" t="17937"/>
          <a:stretch/>
        </p:blipFill>
        <p:spPr>
          <a:xfrm>
            <a:off x="548250" y="1625525"/>
            <a:ext cx="7944899" cy="5088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4"/>
          <p:cNvSpPr txBox="1"/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Vistas y puntos de vista</a:t>
            </a:r>
            <a:br>
              <a:rPr b="1" i="0" lang="en-US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[IEEE 42010 ]</a:t>
            </a:r>
            <a:endParaRPr/>
          </a:p>
        </p:txBody>
      </p:sp>
      <p:sp>
        <p:nvSpPr>
          <p:cNvPr id="233" name="Google Shape;233;p24"/>
          <p:cNvSpPr txBox="1"/>
          <p:nvPr>
            <p:ph idx="1" type="body"/>
          </p:nvPr>
        </p:nvSpPr>
        <p:spPr>
          <a:xfrm>
            <a:off x="457200" y="1828800"/>
            <a:ext cx="4953000" cy="441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38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60"/>
              <a:buFont typeface="Noto Sans Symbols"/>
              <a:buChar char="●"/>
            </a:pPr>
            <a:r>
              <a:rPr b="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 </a:t>
            </a:r>
            <a:r>
              <a:rPr b="1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vista</a:t>
            </a:r>
            <a:r>
              <a:rPr b="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 una descripción de la arquitectura del sistema desde la perspectiva de un conjunto de intereses</a:t>
            </a:r>
            <a:endParaRPr sz="2700"/>
          </a:p>
          <a:p>
            <a:pPr indent="-21844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960"/>
              <a:buFont typeface="Noto Sans Symbols"/>
              <a:buNone/>
            </a:pPr>
            <a:r>
              <a:t/>
            </a:r>
            <a:endParaRPr b="0" i="0" sz="25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660"/>
              <a:buFont typeface="Noto Sans Symbols"/>
              <a:buChar char="●"/>
            </a:pPr>
            <a:r>
              <a:rPr b="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</a:t>
            </a:r>
            <a:r>
              <a:rPr b="1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punto de vista de arquitectura</a:t>
            </a:r>
            <a:r>
              <a:rPr b="0" i="0" lang="en-US" sz="25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define las reglas para construir la vista</a:t>
            </a:r>
            <a:r>
              <a:rPr lang="en-US" sz="2500"/>
              <a:t> que enmarca un conjunto de intereses específicos del sistema</a:t>
            </a:r>
            <a:endParaRPr sz="2700"/>
          </a:p>
        </p:txBody>
      </p:sp>
      <p:pic>
        <p:nvPicPr>
          <p:cNvPr descr="Copyright © 1998–2013 :: http://www.iso-architecture.org/42010/&#10;46&#10;The viewpoint is where&#10;you look from&#10;The view is what y..." id="234" name="Google Shape;234;p24"/>
          <p:cNvPicPr preferRelativeResize="0"/>
          <p:nvPr/>
        </p:nvPicPr>
        <p:blipFill rotWithShape="1">
          <a:blip r:embed="rId3">
            <a:alphaModFix/>
          </a:blip>
          <a:srcRect b="17436" l="59004" r="5839" t="27102"/>
          <a:stretch/>
        </p:blipFill>
        <p:spPr>
          <a:xfrm>
            <a:off x="5181600" y="2222500"/>
            <a:ext cx="3429000" cy="421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 txBox="1"/>
          <p:nvPr/>
        </p:nvSpPr>
        <p:spPr>
          <a:xfrm>
            <a:off x="304800" y="258762"/>
            <a:ext cx="7543800" cy="6556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5"/>
          <p:cNvSpPr txBox="1"/>
          <p:nvPr>
            <p:ph type="title"/>
          </p:nvPr>
        </p:nvSpPr>
        <p:spPr>
          <a:xfrm>
            <a:off x="457200" y="125412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La arquitectura define la estructura</a:t>
            </a:r>
            <a:endParaRPr/>
          </a:p>
        </p:txBody>
      </p:sp>
      <p:sp>
        <p:nvSpPr>
          <p:cNvPr id="241" name="Google Shape;241;p25"/>
          <p:cNvSpPr txBox="1"/>
          <p:nvPr>
            <p:ph idx="1" type="body"/>
          </p:nvPr>
        </p:nvSpPr>
        <p:spPr>
          <a:xfrm>
            <a:off x="2438400" y="1420812"/>
            <a:ext cx="6400800" cy="4681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Una arquitectura debe ser diseñada para cumplir con requerimientos y restricciones específicos </a:t>
            </a: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los que se está haciendo la aplicación.</a:t>
            </a:r>
            <a:endParaRPr/>
          </a:p>
          <a:p>
            <a:pPr indent="-271780" lvl="0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Gran parte del tiempo es invertido en pensar </a:t>
            </a:r>
            <a:r>
              <a:rPr b="1" i="0" lang="en-US" sz="1600" u="none">
                <a:solidFill>
                  <a:schemeClr val="dk1"/>
                </a:solidFill>
              </a:rPr>
              <a:t>c</a:t>
            </a:r>
            <a:r>
              <a:rPr b="1" lang="en-US" sz="1600"/>
              <a:t>ó</a:t>
            </a:r>
            <a:r>
              <a:rPr b="1" i="0" lang="en-US" sz="1600" u="none">
                <a:solidFill>
                  <a:schemeClr val="dk1"/>
                </a:solidFill>
              </a:rPr>
              <a:t>mo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partir una aplicación en un subconjunto interrelacionado de componentes, módulos, objetos o cualquier unidad de software</a:t>
            </a:r>
            <a:endParaRPr/>
          </a:p>
          <a:p>
            <a:pPr indent="-271780" lvl="0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None/>
            </a:pPr>
            <a:r>
              <a:t/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120"/>
              <a:buFont typeface="Noto Sans Symbols"/>
              <a:buChar char="●"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Toda arquitectura de software debe describir diversos </a:t>
            </a: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aspectos del software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Generalmente, cada uno de estos aspectos se describe de una manera más comprensible si se utilizan distintos </a:t>
            </a:r>
            <a:r>
              <a:rPr b="0" i="0" lang="en-US" sz="1600" u="none">
                <a:solidFill>
                  <a:srgbClr val="456868"/>
                </a:solidFill>
                <a:latin typeface="Arial"/>
                <a:ea typeface="Arial"/>
                <a:cs typeface="Arial"/>
                <a:sym typeface="Arial"/>
              </a:rPr>
              <a:t>modelos o vistas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-294322" lvl="1" marL="692150" marR="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840"/>
              <a:buFont typeface="Noto Sans Symbol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7662" lvl="1" marL="692150" marR="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840"/>
              <a:buFont typeface="Noto Sans Symbols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uno de ellos constituye una descripción parcial de una misma arquitectura y es deseable que exista cierto solapamiento entre ellos. Esto es así porque </a:t>
            </a:r>
            <a:r>
              <a:rPr b="1" i="0" lang="en-US" sz="12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todas las vistas deben ser coherentes entre sí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evidente dado que describen la misma cosa, 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estructura arquitectónica del Sistema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347662" lvl="1" marL="692150" marR="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840"/>
              <a:buFont typeface="Noto Sans Symbols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7662" lvl="1" marL="692150" marR="0" rtl="0" algn="l">
              <a:lnSpc>
                <a:spcPct val="90000"/>
              </a:lnSpc>
              <a:spcBef>
                <a:spcPts val="240"/>
              </a:spcBef>
              <a:spcAft>
                <a:spcPts val="0"/>
              </a:spcAft>
              <a:buClr>
                <a:schemeClr val="accent2"/>
              </a:buClr>
              <a:buSzPts val="840"/>
              <a:buFont typeface="Noto Sans Symbols"/>
              <a:buChar char="●"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complementar las vistas de la arquitectura, se utilizan </a:t>
            </a: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perspectivas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las cuales se ocupan de separar los intereses de los involucrados enfocándose en atributos de calidad transversales.</a:t>
            </a:r>
            <a:endParaRPr/>
          </a:p>
        </p:txBody>
      </p:sp>
      <p:sp>
        <p:nvSpPr>
          <p:cNvPr id="242" name="Google Shape;242;p25"/>
          <p:cNvSpPr/>
          <p:nvPr/>
        </p:nvSpPr>
        <p:spPr>
          <a:xfrm>
            <a:off x="533400" y="1700212"/>
            <a:ext cx="1752600" cy="1449387"/>
          </a:xfrm>
          <a:prstGeom prst="rightArrow">
            <a:avLst>
              <a:gd fmla="val 72338" name="adj1"/>
              <a:gd fmla="val 50000" name="adj2"/>
            </a:avLst>
          </a:prstGeom>
          <a:solidFill>
            <a:srgbClr val="5C8A8A"/>
          </a:solidFill>
          <a:ln cap="flat" cmpd="sng" w="25400">
            <a:solidFill>
              <a:srgbClr val="41646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Identificar Stakeholders</a:t>
            </a:r>
            <a:endParaRPr/>
          </a:p>
        </p:txBody>
      </p:sp>
      <p:sp>
        <p:nvSpPr>
          <p:cNvPr id="243" name="Google Shape;243;p25"/>
          <p:cNvSpPr/>
          <p:nvPr/>
        </p:nvSpPr>
        <p:spPr>
          <a:xfrm>
            <a:off x="533400" y="3429000"/>
            <a:ext cx="1828800" cy="1524000"/>
          </a:xfrm>
          <a:prstGeom prst="rightArrow">
            <a:avLst>
              <a:gd fmla="val 70288" name="adj1"/>
              <a:gd fmla="val 50000" name="adj2"/>
            </a:avLst>
          </a:prstGeom>
          <a:gradFill>
            <a:gsLst>
              <a:gs pos="0">
                <a:srgbClr val="B9DBDB"/>
              </a:gs>
              <a:gs pos="35000">
                <a:srgbClr val="CEE5E5"/>
              </a:gs>
              <a:gs pos="100000">
                <a:srgbClr val="ECF5F5"/>
              </a:gs>
            </a:gsLst>
            <a:lin ang="16200000" scaled="0"/>
          </a:gradFill>
          <a:ln cap="flat" cmpd="sng" w="9525">
            <a:solidFill>
              <a:srgbClr val="598888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Diseñar usando principios y patrones</a:t>
            </a:r>
            <a:endParaRPr/>
          </a:p>
        </p:txBody>
      </p:sp>
      <p:sp>
        <p:nvSpPr>
          <p:cNvPr id="244" name="Google Shape;244;p25"/>
          <p:cNvSpPr/>
          <p:nvPr/>
        </p:nvSpPr>
        <p:spPr>
          <a:xfrm>
            <a:off x="4038600" y="6102350"/>
            <a:ext cx="2971800" cy="6096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90"/>
              </a:gs>
              <a:gs pos="35000">
                <a:srgbClr val="FFFFB2"/>
              </a:gs>
              <a:gs pos="100000">
                <a:srgbClr val="FFFFE0"/>
              </a:gs>
            </a:gsLst>
            <a:lin ang="16200000" scaled="0"/>
          </a:gradFill>
          <a:ln cap="flat" cmpd="sng" w="9525">
            <a:solidFill>
              <a:srgbClr val="CCCC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Generar vistas</a:t>
            </a:r>
            <a:endParaRPr/>
          </a:p>
        </p:txBody>
      </p:sp>
      <p:sp>
        <p:nvSpPr>
          <p:cNvPr id="245" name="Google Shape;245;p25"/>
          <p:cNvSpPr/>
          <p:nvPr/>
        </p:nvSpPr>
        <p:spPr>
          <a:xfrm>
            <a:off x="609600" y="5262562"/>
            <a:ext cx="1752600" cy="1449387"/>
          </a:xfrm>
          <a:prstGeom prst="rightArrow">
            <a:avLst>
              <a:gd fmla="val 78579" name="adj1"/>
              <a:gd fmla="val 50000" name="adj2"/>
            </a:avLst>
          </a:prstGeom>
          <a:solidFill>
            <a:srgbClr val="5C8A8A"/>
          </a:solidFill>
          <a:ln cap="flat" cmpd="sng" w="25400">
            <a:solidFill>
              <a:srgbClr val="41646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Utilizar perspectivas</a:t>
            </a:r>
            <a:endParaRPr/>
          </a:p>
        </p:txBody>
      </p:sp>
      <p:cxnSp>
        <p:nvCxnSpPr>
          <p:cNvPr id="246" name="Google Shape;246;p25"/>
          <p:cNvCxnSpPr/>
          <p:nvPr/>
        </p:nvCxnSpPr>
        <p:spPr>
          <a:xfrm flipH="1" rot="10800000">
            <a:off x="228600" y="4648200"/>
            <a:ext cx="381000" cy="304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igure 1: UML class diagram showing structural elements" id="251" name="Google Shape;25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304800"/>
            <a:ext cx="3343275" cy="12763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6"/>
          <p:cNvSpPr txBox="1"/>
          <p:nvPr/>
        </p:nvSpPr>
        <p:spPr>
          <a:xfrm>
            <a:off x="4191000" y="609600"/>
            <a:ext cx="1828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Elementos estructurales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Diagrama de Clase</a:t>
            </a:r>
            <a:endParaRPr/>
          </a:p>
        </p:txBody>
      </p:sp>
      <p:cxnSp>
        <p:nvCxnSpPr>
          <p:cNvPr id="253" name="Google Shape;253;p26"/>
          <p:cNvCxnSpPr/>
          <p:nvPr/>
        </p:nvCxnSpPr>
        <p:spPr>
          <a:xfrm rot="10800000">
            <a:off x="2895600" y="838200"/>
            <a:ext cx="990600" cy="0"/>
          </a:xfrm>
          <a:prstGeom prst="straightConnector1">
            <a:avLst/>
          </a:prstGeom>
          <a:noFill/>
          <a:ln cap="flat" cmpd="sng" w="9525">
            <a:solidFill>
              <a:srgbClr val="CCCC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pic>
        <p:nvPicPr>
          <p:cNvPr descr="Figure 2: UML sequence diagram showing behavioral elements" id="254" name="Google Shape;25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1524000"/>
            <a:ext cx="3505200" cy="2325687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6"/>
          <p:cNvSpPr txBox="1"/>
          <p:nvPr/>
        </p:nvSpPr>
        <p:spPr>
          <a:xfrm>
            <a:off x="841375" y="2203450"/>
            <a:ext cx="29003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Elementos de comportamiento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Diagrama de Secuencia</a:t>
            </a:r>
            <a:endParaRPr/>
          </a:p>
        </p:txBody>
      </p:sp>
      <p:pic>
        <p:nvPicPr>
          <p:cNvPr descr="http://agilemodeling.com/images/models/deploymentDiagram.jpg" id="256" name="Google Shape;25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8950" y="3509962"/>
            <a:ext cx="3006725" cy="228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7" name="Google Shape;257;p26"/>
          <p:cNvCxnSpPr/>
          <p:nvPr/>
        </p:nvCxnSpPr>
        <p:spPr>
          <a:xfrm flipH="1" rot="10800000">
            <a:off x="3733800" y="2514600"/>
            <a:ext cx="1143000" cy="26987"/>
          </a:xfrm>
          <a:prstGeom prst="straightConnector1">
            <a:avLst/>
          </a:prstGeom>
          <a:noFill/>
          <a:ln cap="flat" cmpd="sng" w="9525">
            <a:solidFill>
              <a:srgbClr val="CCCC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258" name="Google Shape;258;p26"/>
          <p:cNvSpPr txBox="1"/>
          <p:nvPr/>
        </p:nvSpPr>
        <p:spPr>
          <a:xfrm>
            <a:off x="4495800" y="4049712"/>
            <a:ext cx="290036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Elementos Físicos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Diagrama de Despliegue (Deployment)</a:t>
            </a:r>
            <a:endParaRPr/>
          </a:p>
        </p:txBody>
      </p:sp>
      <p:cxnSp>
        <p:nvCxnSpPr>
          <p:cNvPr id="259" name="Google Shape;259;p26"/>
          <p:cNvCxnSpPr/>
          <p:nvPr/>
        </p:nvCxnSpPr>
        <p:spPr>
          <a:xfrm flipH="1">
            <a:off x="3733800" y="4287837"/>
            <a:ext cx="762000" cy="14287"/>
          </a:xfrm>
          <a:prstGeom prst="straightConnector1">
            <a:avLst/>
          </a:prstGeom>
          <a:noFill/>
          <a:ln cap="flat" cmpd="sng" w="9525">
            <a:solidFill>
              <a:srgbClr val="CCCC00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pic>
        <p:nvPicPr>
          <p:cNvPr descr="http://2.bp.blogspot.com/-N2K_BLDT3xM/ToHpoONXvlI/AAAAAAAAA9Q/gUVV-AsgQ4Y/s1600/11-7.png" id="260" name="Google Shape;260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91200" y="4670425"/>
            <a:ext cx="2817812" cy="2043112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 txBox="1"/>
          <p:nvPr/>
        </p:nvSpPr>
        <p:spPr>
          <a:xfrm>
            <a:off x="1773237" y="6051550"/>
            <a:ext cx="2900362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Elementos del Negocio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Arial"/>
              <a:buNone/>
            </a:pPr>
            <a:r>
              <a:rPr b="0" i="0" lang="en-US" sz="1200" u="non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Diagrama de Casos de Uso</a:t>
            </a:r>
            <a:endParaRPr/>
          </a:p>
        </p:txBody>
      </p:sp>
      <p:cxnSp>
        <p:nvCxnSpPr>
          <p:cNvPr id="262" name="Google Shape;262;p26"/>
          <p:cNvCxnSpPr/>
          <p:nvPr/>
        </p:nvCxnSpPr>
        <p:spPr>
          <a:xfrm>
            <a:off x="4724400" y="6172200"/>
            <a:ext cx="1295400" cy="0"/>
          </a:xfrm>
          <a:prstGeom prst="straightConnector1">
            <a:avLst/>
          </a:prstGeom>
          <a:noFill/>
          <a:ln cap="flat" cmpd="sng" w="9525">
            <a:solidFill>
              <a:srgbClr val="CCCC00"/>
            </a:solidFill>
            <a:prstDash val="solid"/>
            <a:miter lim="800000"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7"/>
          <p:cNvSpPr txBox="1"/>
          <p:nvPr>
            <p:ph type="title"/>
          </p:nvPr>
        </p:nvSpPr>
        <p:spPr>
          <a:xfrm>
            <a:off x="722312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PROPIEDADES DE CALIDAD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8"/>
          <p:cNvSpPr txBox="1"/>
          <p:nvPr>
            <p:ph type="title"/>
          </p:nvPr>
        </p:nvSpPr>
        <p:spPr>
          <a:xfrm>
            <a:off x="457200" y="122237"/>
            <a:ext cx="75438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Propiedades / Atributos</a:t>
            </a:r>
            <a:br>
              <a:rPr b="1" i="0" lang="en-US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 calidad</a:t>
            </a:r>
            <a:endParaRPr/>
          </a:p>
        </p:txBody>
      </p:sp>
      <p:sp>
        <p:nvSpPr>
          <p:cNvPr id="273" name="Google Shape;273;p28"/>
          <p:cNvSpPr txBox="1"/>
          <p:nvPr>
            <p:ph idx="1" type="body"/>
          </p:nvPr>
        </p:nvSpPr>
        <p:spPr>
          <a:xfrm>
            <a:off x="3352800" y="2133600"/>
            <a:ext cx="5562600" cy="441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7662" lvl="1" marL="692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¿Cómo se comporta el sistema cuando se hace carga de información?</a:t>
            </a:r>
            <a:endParaRPr/>
          </a:p>
          <a:p>
            <a:pPr indent="-347662" lvl="1" marL="6921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¿Cuál es el rendimiento máximo de cierto hardware?</a:t>
            </a:r>
            <a:endParaRPr/>
          </a:p>
          <a:p>
            <a:pPr indent="-347662" lvl="1" marL="6921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¿Cómo se protege a la información en el sistema de uso malicioso?</a:t>
            </a:r>
            <a:endParaRPr/>
          </a:p>
          <a:p>
            <a:pPr indent="-347662" lvl="1" marL="6921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¿Qué tan seguido se esperan fallas en el sistema y cómo se puede restaurar?</a:t>
            </a:r>
            <a:endParaRPr/>
          </a:p>
          <a:p>
            <a:pPr indent="-347662" lvl="1" marL="6921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¿Qué tan fácil es de gestionar, mantener y actualizar el sistema?</a:t>
            </a:r>
            <a:endParaRPr/>
          </a:p>
          <a:p>
            <a:pPr indent="-347662" lvl="1" marL="69215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●"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¿Qué tan fácil es para personas con discapacidades físicas usar el sistema?</a:t>
            </a:r>
            <a:endParaRPr/>
          </a:p>
          <a:p>
            <a:pPr indent="-2540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8"/>
          <p:cNvSpPr/>
          <p:nvPr/>
        </p:nvSpPr>
        <p:spPr>
          <a:xfrm>
            <a:off x="609600" y="2133600"/>
            <a:ext cx="2819400" cy="3581400"/>
          </a:xfrm>
          <a:prstGeom prst="rightArrow">
            <a:avLst>
              <a:gd fmla="val 68932" name="adj1"/>
              <a:gd fmla="val 50000" name="adj2"/>
            </a:avLst>
          </a:prstGeom>
          <a:solidFill>
            <a:srgbClr val="5C8A8A"/>
          </a:solidFill>
          <a:ln cap="flat" cmpd="sng" w="25400">
            <a:solidFill>
              <a:srgbClr val="41646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Intereses, circunstancias, prioridades y entorno de los involucrados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