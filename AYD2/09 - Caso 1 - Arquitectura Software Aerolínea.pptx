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
      <p:font typeface="Playfair Display"/>
      <p:regular r:id="rId22"/>
      <p:bold r:id="rId23"/>
      <p:italic r:id="rId24"/>
      <p:boldItalic r:id="rId25"/>
    </p:embeddedFont>
    <p:embeddedFont>
      <p:font typeface="Montserrat"/>
      <p:regular r:id="rId26"/>
      <p:bold r:id="rId27"/>
      <p:italic r:id="rId28"/>
      <p:boldItalic r:id="rId29"/>
    </p:embeddedFont>
    <p:embeddedFont>
      <p:font typeface="Lato"/>
      <p:regular r:id="rId30"/>
      <p:bold r:id="rId31"/>
      <p:italic r:id="rId32"/>
      <p:boldItalic r:id="rId33"/>
    </p:embeddedFont>
    <p:embeddedFont>
      <p:font typeface="Oswal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PlayfairDisplay-regular.fntdata"/><Relationship Id="rId21" Type="http://schemas.openxmlformats.org/officeDocument/2006/relationships/font" Target="fonts/Roboto-boldItalic.fntdata"/><Relationship Id="rId24" Type="http://schemas.openxmlformats.org/officeDocument/2006/relationships/font" Target="fonts/PlayfairDisplay-italic.fntdata"/><Relationship Id="rId23" Type="http://schemas.openxmlformats.org/officeDocument/2006/relationships/font" Target="fonts/PlayfairDispl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font" Target="fonts/PlayfairDisplay-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Oswald-bold.fntdata"/><Relationship Id="rId12" Type="http://schemas.openxmlformats.org/officeDocument/2006/relationships/slide" Target="slides/slide7.xml"/><Relationship Id="rId34" Type="http://schemas.openxmlformats.org/officeDocument/2006/relationships/font" Target="fonts/Oswal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e707fc586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e707fc586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e707fc5863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e707fc5863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707fc5863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707fc5863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e707fc5863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e707fc5863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e707fc5863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e707fc5863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e707fc5863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707fc5863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e707fc5863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e707fc5863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e707fc5863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e707fc5863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e707fc5863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e707fc5863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e707fc5863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e707fc5863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e707fc5863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e707fc5863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drive.google.com/file/d/1lxh_Opsr2-Ww0H4qUL9EPhoGjalDI8pG/view?usp=sharing"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Caso No. 1:</a:t>
            </a:r>
            <a:endParaRPr/>
          </a:p>
          <a:p>
            <a:pPr indent="0" lvl="0" marL="0" rtl="0" algn="ctr">
              <a:spcBef>
                <a:spcPts val="0"/>
              </a:spcBef>
              <a:spcAft>
                <a:spcPts val="0"/>
              </a:spcAft>
              <a:buNone/>
            </a:pPr>
            <a:r>
              <a:rPr lang="en" sz="4644"/>
              <a:t>Sistema de reservación de vuelos</a:t>
            </a:r>
            <a:endParaRPr sz="4644"/>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a:t>Una solución / posibles soluciones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El caso</a:t>
            </a:r>
            <a:endParaRPr/>
          </a:p>
        </p:txBody>
      </p:sp>
      <p:sp>
        <p:nvSpPr>
          <p:cNvPr id="65" name="Google Shape;65;p14"/>
          <p:cNvSpPr txBox="1"/>
          <p:nvPr/>
        </p:nvSpPr>
        <p:spPr>
          <a:xfrm>
            <a:off x="356850" y="96650"/>
            <a:ext cx="8549400" cy="416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2"/>
                </a:solidFill>
                <a:latin typeface="Lato"/>
                <a:ea typeface="Lato"/>
                <a:cs typeface="Lato"/>
                <a:sym typeface="Lato"/>
              </a:rPr>
              <a:t>Usted va a desarrollar un sistema para reservación de vuelos en una aerolínea con las siguientes características:</a:t>
            </a:r>
            <a:endParaRPr sz="1200">
              <a:solidFill>
                <a:schemeClr val="dk2"/>
              </a:solidFill>
              <a:latin typeface="Lato"/>
              <a:ea typeface="Lato"/>
              <a:cs typeface="Lato"/>
              <a:sym typeface="Lato"/>
            </a:endParaRPr>
          </a:p>
          <a:p>
            <a:pPr indent="-304800" lvl="0" marL="457200" rtl="0" algn="l">
              <a:lnSpc>
                <a:spcPct val="115000"/>
              </a:lnSpc>
              <a:spcBef>
                <a:spcPts val="1600"/>
              </a:spcBef>
              <a:spcAft>
                <a:spcPts val="0"/>
              </a:spcAft>
              <a:buClr>
                <a:schemeClr val="dk2"/>
              </a:buClr>
              <a:buSzPts val="1200"/>
              <a:buFont typeface="Lato"/>
              <a:buChar char="●"/>
            </a:pPr>
            <a:r>
              <a:rPr lang="en" sz="1200">
                <a:solidFill>
                  <a:schemeClr val="dk2"/>
                </a:solidFill>
                <a:latin typeface="Lato"/>
                <a:ea typeface="Lato"/>
                <a:cs typeface="Lato"/>
                <a:sym typeface="Lato"/>
              </a:rPr>
              <a:t>El sistema soporta un número de transacciones para reservar asientos, actualizarlos, transferirlos, mejorarlos o cancelarlos</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Los comportamientos externos visibles del sistema (lo que el sistema hace) es en respuesta a las transacciones que los clientes ingresan, por ejemplo reservar un asiento o actualizar una reservación o cancelar una reservación.</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Las propiedades de calidad del sistema (cómo ofrece el servicio) incluyen un tiempo de respuesta promedio específico para una transacción bajo una cantidad específica de carga (cantidad de usuarios por segundo), la disponibilidad del sistema y el tiempo requerido para reparar defectos en el sistema.</a:t>
            </a:r>
            <a:endParaRPr sz="1200">
              <a:solidFill>
                <a:schemeClr val="dk2"/>
              </a:solidFill>
              <a:latin typeface="Lato"/>
              <a:ea typeface="Lato"/>
              <a:cs typeface="Lato"/>
              <a:sym typeface="Lato"/>
            </a:endParaRPr>
          </a:p>
          <a:p>
            <a:pPr indent="0" lvl="0" marL="0" rtl="0" algn="l">
              <a:lnSpc>
                <a:spcPct val="115000"/>
              </a:lnSpc>
              <a:spcBef>
                <a:spcPts val="1600"/>
              </a:spcBef>
              <a:spcAft>
                <a:spcPts val="0"/>
              </a:spcAft>
              <a:buNone/>
            </a:pPr>
            <a:r>
              <a:rPr lang="en" sz="1200">
                <a:solidFill>
                  <a:schemeClr val="dk2"/>
                </a:solidFill>
                <a:latin typeface="Lato"/>
                <a:ea typeface="Lato"/>
                <a:cs typeface="Lato"/>
                <a:sym typeface="Lato"/>
              </a:rPr>
              <a:t>Considere las siguientes capacidades/características importantes y necesarias para el sistema:</a:t>
            </a:r>
            <a:endParaRPr sz="1200">
              <a:solidFill>
                <a:schemeClr val="dk2"/>
              </a:solidFill>
              <a:latin typeface="Lato"/>
              <a:ea typeface="Lato"/>
              <a:cs typeface="Lato"/>
              <a:sym typeface="Lato"/>
            </a:endParaRPr>
          </a:p>
          <a:p>
            <a:pPr indent="-304800" lvl="0" marL="457200" rtl="0" algn="l">
              <a:lnSpc>
                <a:spcPct val="115000"/>
              </a:lnSpc>
              <a:spcBef>
                <a:spcPts val="1600"/>
              </a:spcBef>
              <a:spcAft>
                <a:spcPts val="0"/>
              </a:spcAft>
              <a:buClr>
                <a:schemeClr val="dk2"/>
              </a:buClr>
              <a:buSzPts val="1200"/>
              <a:buFont typeface="Lato"/>
              <a:buChar char="●"/>
            </a:pPr>
            <a:r>
              <a:rPr lang="en" sz="1200">
                <a:solidFill>
                  <a:schemeClr val="dk2"/>
                </a:solidFill>
                <a:latin typeface="Lato"/>
                <a:ea typeface="Lato"/>
                <a:cs typeface="Lato"/>
                <a:sym typeface="Lato"/>
              </a:rPr>
              <a:t>Los datos del sistema están distribuidos en diferentes sistemas ubicados en diferentes lugares físicos</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Se debe soportar diferentes tipos de dispositivos que ingresarán datos al sistema</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El sistema debe de poder presentar la información en diferentes lenguajes</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El sistema debe de poder imprimir tickets y otros documentos en diferentes tipos de impresoras</a:t>
            </a:r>
            <a:endParaRPr sz="1200">
              <a:solidFill>
                <a:schemeClr val="dk2"/>
              </a:solidFill>
              <a:latin typeface="Lato"/>
              <a:ea typeface="Lato"/>
              <a:cs typeface="Lato"/>
              <a:sym typeface="Lato"/>
            </a:endParaRPr>
          </a:p>
          <a:p>
            <a:pPr indent="-304800" lvl="0" marL="457200" rtl="0" algn="l">
              <a:lnSpc>
                <a:spcPct val="115000"/>
              </a:lnSpc>
              <a:spcBef>
                <a:spcPts val="0"/>
              </a:spcBef>
              <a:spcAft>
                <a:spcPts val="0"/>
              </a:spcAft>
              <a:buClr>
                <a:schemeClr val="dk2"/>
              </a:buClr>
              <a:buSzPts val="1200"/>
              <a:buFont typeface="Lato"/>
              <a:buChar char="●"/>
            </a:pPr>
            <a:r>
              <a:rPr lang="en" sz="1200">
                <a:solidFill>
                  <a:schemeClr val="dk2"/>
                </a:solidFill>
                <a:latin typeface="Lato"/>
                <a:ea typeface="Lato"/>
                <a:cs typeface="Lato"/>
                <a:sym typeface="Lato"/>
              </a:rPr>
              <a:t>El sistema se debe adherir a diferentes regulaciones internacionales</a:t>
            </a:r>
            <a:endParaRPr sz="1200">
              <a:solidFill>
                <a:schemeClr val="dk2"/>
              </a:solidFill>
              <a:latin typeface="Lato"/>
              <a:ea typeface="Lato"/>
              <a:cs typeface="Lato"/>
              <a:sym typeface="Lato"/>
            </a:endParaRPr>
          </a:p>
          <a:p>
            <a:pPr indent="0" lvl="0" marL="0" rtl="0" algn="l">
              <a:lnSpc>
                <a:spcPct val="115000"/>
              </a:lnSpc>
              <a:spcBef>
                <a:spcPts val="1600"/>
              </a:spcBef>
              <a:spcAft>
                <a:spcPts val="1600"/>
              </a:spcAft>
              <a:buNone/>
            </a:pPr>
            <a:r>
              <a:rPr b="1" lang="en" sz="1200">
                <a:solidFill>
                  <a:schemeClr val="dk2"/>
                </a:solidFill>
                <a:latin typeface="Lato"/>
                <a:ea typeface="Lato"/>
                <a:cs typeface="Lato"/>
                <a:sym typeface="Lato"/>
              </a:rPr>
              <a:t>DIAGRAME LA ARQUITECTURA usando el proceso de 3 pasos.</a:t>
            </a:r>
            <a:endParaRPr b="1" sz="1200">
              <a:solidFill>
                <a:schemeClr val="dk2"/>
              </a:solidFill>
              <a:latin typeface="Lato"/>
              <a:ea typeface="Lato"/>
              <a:cs typeface="Lato"/>
              <a:sym typeface="Lato"/>
            </a:endParaRPr>
          </a:p>
        </p:txBody>
      </p:sp>
      <p:pic>
        <p:nvPicPr>
          <p:cNvPr id="66" name="Google Shape;66;p14"/>
          <p:cNvPicPr preferRelativeResize="0"/>
          <p:nvPr/>
        </p:nvPicPr>
        <p:blipFill>
          <a:blip r:embed="rId3">
            <a:alphaModFix/>
          </a:blip>
          <a:stretch>
            <a:fillRect/>
          </a:stretch>
        </p:blipFill>
        <p:spPr>
          <a:xfrm>
            <a:off x="7089847" y="3776547"/>
            <a:ext cx="2054150" cy="1366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Estrategia</a:t>
            </a:r>
            <a:endParaRPr/>
          </a:p>
        </p:txBody>
      </p:sp>
      <p:sp>
        <p:nvSpPr>
          <p:cNvPr id="72" name="Google Shape;72;p15"/>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Para este caso nos centramos en aplicar lo aprendido en clase</a:t>
            </a:r>
            <a:endParaRPr/>
          </a:p>
        </p:txBody>
      </p:sp>
      <p:sp>
        <p:nvSpPr>
          <p:cNvPr id="73" name="Google Shape;73;p1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AutoNum type="arabicPeriod"/>
            </a:pPr>
            <a:r>
              <a:rPr lang="en"/>
              <a:t>Identificar involucrados y sus intereses (Stakeholders y Concerns)</a:t>
            </a:r>
            <a:endParaRPr/>
          </a:p>
          <a:p>
            <a:pPr indent="-342900" lvl="0" marL="457200" rtl="0" algn="l">
              <a:spcBef>
                <a:spcPts val="0"/>
              </a:spcBef>
              <a:spcAft>
                <a:spcPts val="0"/>
              </a:spcAft>
              <a:buSzPts val="1800"/>
              <a:buAutoNum type="arabicPeriod"/>
            </a:pPr>
            <a:r>
              <a:rPr lang="en"/>
              <a:t>Identificar requerimientos de arquitectura</a:t>
            </a:r>
            <a:endParaRPr/>
          </a:p>
          <a:p>
            <a:pPr indent="-342900" lvl="0" marL="457200" rtl="0" algn="l">
              <a:spcBef>
                <a:spcPts val="0"/>
              </a:spcBef>
              <a:spcAft>
                <a:spcPts val="0"/>
              </a:spcAft>
              <a:buSzPts val="1800"/>
              <a:buAutoNum type="arabicPeriod"/>
            </a:pPr>
            <a:r>
              <a:rPr lang="en"/>
              <a:t>Identificar Vistas</a:t>
            </a:r>
            <a:endParaRPr/>
          </a:p>
        </p:txBody>
      </p:sp>
      <p:pic>
        <p:nvPicPr>
          <p:cNvPr id="74" name="Google Shape;74;p15"/>
          <p:cNvPicPr preferRelativeResize="0"/>
          <p:nvPr/>
        </p:nvPicPr>
        <p:blipFill rotWithShape="1">
          <a:blip r:embed="rId3">
            <a:alphaModFix/>
          </a:blip>
          <a:srcRect b="0" l="0" r="0" t="0"/>
          <a:stretch/>
        </p:blipFill>
        <p:spPr>
          <a:xfrm>
            <a:off x="541650" y="165575"/>
            <a:ext cx="3492900" cy="1786200"/>
          </a:xfrm>
          <a:prstGeom prst="rect">
            <a:avLst/>
          </a:prstGeom>
          <a:noFill/>
          <a:ln>
            <a:noFill/>
          </a:ln>
        </p:spPr>
      </p:pic>
      <p:sp>
        <p:nvSpPr>
          <p:cNvPr id="75" name="Google Shape;75;p15"/>
          <p:cNvSpPr txBox="1"/>
          <p:nvPr>
            <p:ph type="title"/>
          </p:nvPr>
        </p:nvSpPr>
        <p:spPr>
          <a:xfrm>
            <a:off x="5114650" y="535675"/>
            <a:ext cx="2724600" cy="7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1779"/>
              <a:t>Determinar requerimientos de arquitectura</a:t>
            </a:r>
            <a:endParaRPr b="1" sz="1779"/>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Identificando interesados y sus intereses</a:t>
            </a:r>
            <a:endParaRPr/>
          </a:p>
        </p:txBody>
      </p:sp>
      <p:sp>
        <p:nvSpPr>
          <p:cNvPr id="81" name="Google Shape;81;p16"/>
          <p:cNvSpPr txBox="1"/>
          <p:nvPr>
            <p:ph idx="1" type="body"/>
          </p:nvPr>
        </p:nvSpPr>
        <p:spPr>
          <a:xfrm>
            <a:off x="311700" y="1652450"/>
            <a:ext cx="3999900" cy="33348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a:t>Clientes / Operadores</a:t>
            </a:r>
            <a:endParaRPr/>
          </a:p>
          <a:p>
            <a:pPr indent="-317500" lvl="0" marL="457200" rtl="0" algn="l">
              <a:lnSpc>
                <a:spcPct val="150000"/>
              </a:lnSpc>
              <a:spcBef>
                <a:spcPts val="0"/>
              </a:spcBef>
              <a:spcAft>
                <a:spcPts val="0"/>
              </a:spcAft>
              <a:buSzPts val="1400"/>
              <a:buChar char="●"/>
            </a:pPr>
            <a:r>
              <a:rPr lang="en"/>
              <a:t>Administradores de la aerolínea</a:t>
            </a:r>
            <a:endParaRPr/>
          </a:p>
          <a:p>
            <a:pPr indent="-317500" lvl="0" marL="457200" rtl="0" algn="l">
              <a:lnSpc>
                <a:spcPct val="150000"/>
              </a:lnSpc>
              <a:spcBef>
                <a:spcPts val="0"/>
              </a:spcBef>
              <a:spcAft>
                <a:spcPts val="0"/>
              </a:spcAft>
              <a:buSzPts val="1400"/>
              <a:buChar char="●"/>
            </a:pPr>
            <a:r>
              <a:rPr lang="en"/>
              <a:t>Desarrolladores del sistema</a:t>
            </a:r>
            <a:endParaRPr/>
          </a:p>
          <a:p>
            <a:pPr indent="-317500" lvl="0" marL="457200" rtl="0" algn="l">
              <a:lnSpc>
                <a:spcPct val="150000"/>
              </a:lnSpc>
              <a:spcBef>
                <a:spcPts val="0"/>
              </a:spcBef>
              <a:spcAft>
                <a:spcPts val="0"/>
              </a:spcAft>
              <a:buSzPts val="1400"/>
              <a:buChar char="●"/>
            </a:pPr>
            <a:r>
              <a:rPr lang="en"/>
              <a:t>Equipo de soporte técnico</a:t>
            </a:r>
            <a:endParaRPr/>
          </a:p>
          <a:p>
            <a:pPr indent="-317500" lvl="0" marL="457200" rtl="0" algn="l">
              <a:lnSpc>
                <a:spcPct val="150000"/>
              </a:lnSpc>
              <a:spcBef>
                <a:spcPts val="0"/>
              </a:spcBef>
              <a:spcAft>
                <a:spcPts val="0"/>
              </a:spcAft>
              <a:buSzPts val="1400"/>
              <a:buChar char="●"/>
            </a:pPr>
            <a:r>
              <a:rPr lang="en"/>
              <a:t>Reguladores internacionales</a:t>
            </a:r>
            <a:endParaRPr/>
          </a:p>
          <a:p>
            <a:pPr indent="-317500" lvl="0" marL="457200" rtl="0" algn="l">
              <a:lnSpc>
                <a:spcPct val="150000"/>
              </a:lnSpc>
              <a:spcBef>
                <a:spcPts val="0"/>
              </a:spcBef>
              <a:spcAft>
                <a:spcPts val="0"/>
              </a:spcAft>
              <a:buSzPts val="1400"/>
              <a:buChar char="●"/>
            </a:pPr>
            <a:r>
              <a:rPr lang="en"/>
              <a:t>Proveedores de impresoras</a:t>
            </a:r>
            <a:endParaRPr/>
          </a:p>
          <a:p>
            <a:pPr indent="-317500" lvl="0" marL="457200" rtl="0" algn="l">
              <a:lnSpc>
                <a:spcPct val="150000"/>
              </a:lnSpc>
              <a:spcBef>
                <a:spcPts val="0"/>
              </a:spcBef>
              <a:spcAft>
                <a:spcPts val="0"/>
              </a:spcAft>
              <a:buSzPts val="1400"/>
              <a:buChar char="●"/>
            </a:pPr>
            <a:r>
              <a:rPr lang="en"/>
              <a:t>Traductores</a:t>
            </a:r>
            <a:endParaRPr/>
          </a:p>
          <a:p>
            <a:pPr indent="-317500" lvl="0" marL="457200" rtl="0" algn="l">
              <a:lnSpc>
                <a:spcPct val="150000"/>
              </a:lnSpc>
              <a:spcBef>
                <a:spcPts val="0"/>
              </a:spcBef>
              <a:spcAft>
                <a:spcPts val="0"/>
              </a:spcAft>
              <a:buSzPts val="1400"/>
              <a:buChar char="●"/>
            </a:pPr>
            <a:r>
              <a:rPr lang="en"/>
              <a:t>Arquitecto / Project Manager</a:t>
            </a:r>
            <a:endParaRPr/>
          </a:p>
          <a:p>
            <a:pPr indent="-317500" lvl="0" marL="457200" rtl="0" algn="l">
              <a:lnSpc>
                <a:spcPct val="150000"/>
              </a:lnSpc>
              <a:spcBef>
                <a:spcPts val="0"/>
              </a:spcBef>
              <a:spcAft>
                <a:spcPts val="0"/>
              </a:spcAft>
              <a:buSzPts val="1400"/>
              <a:buChar char="●"/>
            </a:pPr>
            <a:r>
              <a:rPr lang="en"/>
              <a:t>Diseñadora gráfica</a:t>
            </a:r>
            <a:endParaRPr/>
          </a:p>
        </p:txBody>
      </p:sp>
      <p:sp>
        <p:nvSpPr>
          <p:cNvPr id="82" name="Google Shape;82;p16"/>
          <p:cNvSpPr txBox="1"/>
          <p:nvPr>
            <p:ph idx="2" type="body"/>
          </p:nvPr>
        </p:nvSpPr>
        <p:spPr>
          <a:xfrm>
            <a:off x="4832400" y="1652450"/>
            <a:ext cx="3999900" cy="33348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Buscar, reservar, actualizar, etc los vuelos</a:t>
            </a:r>
            <a:endParaRPr/>
          </a:p>
          <a:p>
            <a:pPr indent="-317500" lvl="0" marL="457200" rtl="0" algn="l">
              <a:spcBef>
                <a:spcPts val="0"/>
              </a:spcBef>
              <a:spcAft>
                <a:spcPts val="0"/>
              </a:spcAft>
              <a:buSzPts val="1400"/>
              <a:buChar char="●"/>
            </a:pPr>
            <a:r>
              <a:rPr lang="en"/>
              <a:t>Supervisión y administración de vuelos</a:t>
            </a:r>
            <a:endParaRPr/>
          </a:p>
          <a:p>
            <a:pPr indent="-317500" lvl="0" marL="457200" rtl="0" algn="l">
              <a:spcBef>
                <a:spcPts val="0"/>
              </a:spcBef>
              <a:spcAft>
                <a:spcPts val="0"/>
              </a:spcAft>
              <a:buSzPts val="1400"/>
              <a:buChar char="●"/>
            </a:pPr>
            <a:r>
              <a:rPr lang="en"/>
              <a:t>Construir, probar y mantener el sistema, concurrencia</a:t>
            </a:r>
            <a:endParaRPr/>
          </a:p>
          <a:p>
            <a:pPr indent="-317500" lvl="0" marL="457200" rtl="0" algn="l">
              <a:spcBef>
                <a:spcPts val="0"/>
              </a:spcBef>
              <a:spcAft>
                <a:spcPts val="0"/>
              </a:spcAft>
              <a:buSzPts val="1400"/>
              <a:buChar char="●"/>
            </a:pPr>
            <a:r>
              <a:rPr lang="en"/>
              <a:t>Mantenimiento, troubleshooting, alta disponibilidad, tiempos de respuesta rápidos, robustez, tolerancia a fallos</a:t>
            </a:r>
            <a:endParaRPr/>
          </a:p>
          <a:p>
            <a:pPr indent="-317500" lvl="0" marL="457200" rtl="0" algn="l">
              <a:spcBef>
                <a:spcPts val="0"/>
              </a:spcBef>
              <a:spcAft>
                <a:spcPts val="0"/>
              </a:spcAft>
              <a:buSzPts val="1400"/>
              <a:buChar char="●"/>
            </a:pPr>
            <a:r>
              <a:rPr lang="en"/>
              <a:t>Normativas para gestión de pasajeros, cumplimiento de regulaciones en el sistema</a:t>
            </a:r>
            <a:endParaRPr/>
          </a:p>
          <a:p>
            <a:pPr indent="-317500" lvl="0" marL="457200" rtl="0" algn="l">
              <a:spcBef>
                <a:spcPts val="0"/>
              </a:spcBef>
              <a:spcAft>
                <a:spcPts val="0"/>
              </a:spcAft>
              <a:buSzPts val="1400"/>
              <a:buChar char="●"/>
            </a:pPr>
            <a:r>
              <a:rPr lang="en"/>
              <a:t>Compatibilidad con impresoras</a:t>
            </a:r>
            <a:endParaRPr/>
          </a:p>
          <a:p>
            <a:pPr indent="-317500" lvl="0" marL="457200" rtl="0" algn="l">
              <a:spcBef>
                <a:spcPts val="0"/>
              </a:spcBef>
              <a:spcAft>
                <a:spcPts val="0"/>
              </a:spcAft>
              <a:buSzPts val="1400"/>
              <a:buChar char="●"/>
            </a:pPr>
            <a:r>
              <a:rPr lang="en"/>
              <a:t>Internacionalización</a:t>
            </a:r>
            <a:endParaRPr/>
          </a:p>
        </p:txBody>
      </p:sp>
      <p:sp>
        <p:nvSpPr>
          <p:cNvPr id="83" name="Google Shape;83;p16"/>
          <p:cNvSpPr txBox="1"/>
          <p:nvPr/>
        </p:nvSpPr>
        <p:spPr>
          <a:xfrm>
            <a:off x="6218375" y="1169188"/>
            <a:ext cx="1298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layfair Display"/>
                <a:ea typeface="Playfair Display"/>
                <a:cs typeface="Playfair Display"/>
                <a:sym typeface="Playfair Display"/>
              </a:rPr>
              <a:t>Intereses</a:t>
            </a:r>
            <a:endParaRPr b="1">
              <a:latin typeface="Playfair Display"/>
              <a:ea typeface="Playfair Display"/>
              <a:cs typeface="Playfair Display"/>
              <a:sym typeface="Playfair Display"/>
            </a:endParaRPr>
          </a:p>
        </p:txBody>
      </p:sp>
      <p:sp>
        <p:nvSpPr>
          <p:cNvPr id="84" name="Google Shape;84;p16"/>
          <p:cNvSpPr txBox="1"/>
          <p:nvPr/>
        </p:nvSpPr>
        <p:spPr>
          <a:xfrm>
            <a:off x="1364350" y="1169175"/>
            <a:ext cx="12984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layfair Display"/>
                <a:ea typeface="Playfair Display"/>
                <a:cs typeface="Playfair Display"/>
                <a:sym typeface="Playfair Display"/>
              </a:rPr>
              <a:t>Interesados</a:t>
            </a:r>
            <a:endParaRPr b="1">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Requerimientos de arquitectura</a:t>
            </a:r>
            <a:endParaRPr/>
          </a:p>
        </p:txBody>
      </p:sp>
      <p:sp>
        <p:nvSpPr>
          <p:cNvPr id="90" name="Google Shape;90;p17"/>
          <p:cNvSpPr txBox="1"/>
          <p:nvPr>
            <p:ph idx="1" type="body"/>
          </p:nvPr>
        </p:nvSpPr>
        <p:spPr>
          <a:xfrm>
            <a:off x="311700" y="1234050"/>
            <a:ext cx="3999900" cy="333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290"/>
              <a:t>Requerimientos funcionales</a:t>
            </a:r>
            <a:endParaRPr sz="1290"/>
          </a:p>
          <a:p>
            <a:pPr indent="-299720" lvl="0" marL="457200" rtl="0" algn="l">
              <a:lnSpc>
                <a:spcPct val="95000"/>
              </a:lnSpc>
              <a:spcBef>
                <a:spcPts val="1500"/>
              </a:spcBef>
              <a:spcAft>
                <a:spcPts val="0"/>
              </a:spcAft>
              <a:buClr>
                <a:srgbClr val="374151"/>
              </a:buClr>
              <a:buSzPts val="1120"/>
              <a:buFont typeface="Roboto"/>
              <a:buAutoNum type="arabicPeriod"/>
            </a:pPr>
            <a:r>
              <a:rPr b="1" lang="en" sz="1290"/>
              <a:t>Reservar Asientos</a:t>
            </a:r>
            <a:r>
              <a:rPr lang="en" sz="1290"/>
              <a:t>: Los usuarios deben poder reservar asientos en vuelos disponibles.</a:t>
            </a:r>
            <a:endParaRPr sz="1290"/>
          </a:p>
          <a:p>
            <a:pPr indent="-299720" lvl="0" marL="457200" rtl="0" algn="l">
              <a:lnSpc>
                <a:spcPct val="95000"/>
              </a:lnSpc>
              <a:spcBef>
                <a:spcPts val="0"/>
              </a:spcBef>
              <a:spcAft>
                <a:spcPts val="0"/>
              </a:spcAft>
              <a:buClr>
                <a:srgbClr val="374151"/>
              </a:buClr>
              <a:buSzPts val="1120"/>
              <a:buFont typeface="Roboto"/>
              <a:buAutoNum type="arabicPeriod"/>
            </a:pPr>
            <a:r>
              <a:rPr b="1" lang="en" sz="1290"/>
              <a:t>Actualizar Reservaciones</a:t>
            </a:r>
            <a:r>
              <a:rPr lang="en" sz="1290"/>
              <a:t>: Los usuarios deben poder actualizar sus reservaciones, como cambiar la fecha del vuelo o la clase de servicio.</a:t>
            </a:r>
            <a:endParaRPr sz="1290"/>
          </a:p>
          <a:p>
            <a:pPr indent="-299720" lvl="0" marL="457200" rtl="0" algn="l">
              <a:lnSpc>
                <a:spcPct val="95000"/>
              </a:lnSpc>
              <a:spcBef>
                <a:spcPts val="0"/>
              </a:spcBef>
              <a:spcAft>
                <a:spcPts val="0"/>
              </a:spcAft>
              <a:buClr>
                <a:srgbClr val="374151"/>
              </a:buClr>
              <a:buSzPts val="1120"/>
              <a:buFont typeface="Roboto"/>
              <a:buAutoNum type="arabicPeriod"/>
            </a:pPr>
            <a:r>
              <a:rPr b="1" lang="en" sz="1290"/>
              <a:t>Transferir Reservaciones</a:t>
            </a:r>
            <a:r>
              <a:rPr lang="en" sz="1290"/>
              <a:t>: Los usuarios deben poder transferir sus reservaciones a otras personas.</a:t>
            </a:r>
            <a:endParaRPr sz="1290"/>
          </a:p>
          <a:p>
            <a:pPr indent="-299720" lvl="0" marL="457200" rtl="0" algn="l">
              <a:lnSpc>
                <a:spcPct val="95000"/>
              </a:lnSpc>
              <a:spcBef>
                <a:spcPts val="0"/>
              </a:spcBef>
              <a:spcAft>
                <a:spcPts val="0"/>
              </a:spcAft>
              <a:buClr>
                <a:srgbClr val="374151"/>
              </a:buClr>
              <a:buSzPts val="1120"/>
              <a:buFont typeface="Roboto"/>
              <a:buAutoNum type="arabicPeriod"/>
            </a:pPr>
            <a:r>
              <a:rPr b="1" lang="en" sz="1290"/>
              <a:t>Mejorar Reservaciones</a:t>
            </a:r>
            <a:r>
              <a:rPr lang="en" sz="1290"/>
              <a:t>: Los usuarios deben poder mejorar sus asientos o cambiar su clase de servicio.</a:t>
            </a:r>
            <a:endParaRPr sz="1290"/>
          </a:p>
          <a:p>
            <a:pPr indent="-299720" lvl="0" marL="457200" rtl="0" algn="l">
              <a:lnSpc>
                <a:spcPct val="95000"/>
              </a:lnSpc>
              <a:spcBef>
                <a:spcPts val="0"/>
              </a:spcBef>
              <a:spcAft>
                <a:spcPts val="0"/>
              </a:spcAft>
              <a:buClr>
                <a:srgbClr val="374151"/>
              </a:buClr>
              <a:buSzPts val="1120"/>
              <a:buFont typeface="Roboto"/>
              <a:buAutoNum type="arabicPeriod"/>
            </a:pPr>
            <a:r>
              <a:rPr b="1" lang="en" sz="1290"/>
              <a:t>Cancelar Reservaciones</a:t>
            </a:r>
            <a:r>
              <a:rPr lang="en" sz="1290"/>
              <a:t>: Los usuarios deben poder cancelar sus reservaciones y recibir reembolsos según las políticas de la aerolínea.</a:t>
            </a:r>
            <a:endParaRPr sz="1120">
              <a:solidFill>
                <a:srgbClr val="374151"/>
              </a:solidFill>
              <a:highlight>
                <a:srgbClr val="F7F7F8"/>
              </a:highlight>
              <a:latin typeface="Roboto"/>
              <a:ea typeface="Roboto"/>
              <a:cs typeface="Roboto"/>
              <a:sym typeface="Roboto"/>
            </a:endParaRPr>
          </a:p>
          <a:p>
            <a:pPr indent="0" lvl="0" marL="457200" rtl="0" algn="l">
              <a:lnSpc>
                <a:spcPct val="95000"/>
              </a:lnSpc>
              <a:spcBef>
                <a:spcPts val="1500"/>
              </a:spcBef>
              <a:spcAft>
                <a:spcPts val="1200"/>
              </a:spcAft>
              <a:buSzPts val="935"/>
              <a:buNone/>
            </a:pPr>
            <a:r>
              <a:t/>
            </a:r>
            <a:endParaRPr sz="1290"/>
          </a:p>
        </p:txBody>
      </p:sp>
      <p:sp>
        <p:nvSpPr>
          <p:cNvPr id="91" name="Google Shape;91;p17"/>
          <p:cNvSpPr txBox="1"/>
          <p:nvPr>
            <p:ph idx="2" type="body"/>
          </p:nvPr>
        </p:nvSpPr>
        <p:spPr>
          <a:xfrm>
            <a:off x="4832400" y="1234050"/>
            <a:ext cx="3999900" cy="3334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2"/>
              <a:buNone/>
            </a:pPr>
            <a:r>
              <a:rPr lang="en" sz="1185"/>
              <a:t>Requerimientos no funcionales / Atributos de Calidad</a:t>
            </a:r>
            <a:endParaRPr sz="1185"/>
          </a:p>
          <a:p>
            <a:pPr indent="-294005" lvl="0" marL="457200" marR="0" rtl="0" algn="l">
              <a:lnSpc>
                <a:spcPct val="105000"/>
              </a:lnSpc>
              <a:spcBef>
                <a:spcPts val="1500"/>
              </a:spcBef>
              <a:spcAft>
                <a:spcPts val="0"/>
              </a:spcAft>
              <a:buClr>
                <a:srgbClr val="374151"/>
              </a:buClr>
              <a:buSzPts val="1030"/>
              <a:buFont typeface="Roboto"/>
              <a:buAutoNum type="arabicPeriod"/>
            </a:pPr>
            <a:r>
              <a:rPr b="1" lang="en" sz="1185"/>
              <a:t>Tiempo de Respuesta:</a:t>
            </a:r>
            <a:r>
              <a:rPr lang="en" sz="1185"/>
              <a:t> El sistema debe tener un tiempo de respuesta promedio de menos de 2 segundos para cualquier transacción bajo una carga máxima de 1000 usuarios por segundo.</a:t>
            </a:r>
            <a:endParaRPr sz="1185"/>
          </a:p>
          <a:p>
            <a:pPr indent="-294005" lvl="0" marL="457200" marR="0" rtl="0" algn="l">
              <a:lnSpc>
                <a:spcPct val="105000"/>
              </a:lnSpc>
              <a:spcBef>
                <a:spcPts val="0"/>
              </a:spcBef>
              <a:spcAft>
                <a:spcPts val="0"/>
              </a:spcAft>
              <a:buClr>
                <a:srgbClr val="374151"/>
              </a:buClr>
              <a:buSzPts val="1030"/>
              <a:buFont typeface="Roboto"/>
              <a:buAutoNum type="arabicPeriod"/>
            </a:pPr>
            <a:r>
              <a:rPr b="1" lang="en" sz="1185"/>
              <a:t>Disponibilidad:</a:t>
            </a:r>
            <a:r>
              <a:rPr lang="en" sz="1185"/>
              <a:t> El sistema debe estar disponible el 99.99% del tiempo, lo que permite un tiempo de inactividad programado mínimo para mantenimiento.</a:t>
            </a:r>
            <a:endParaRPr sz="1185"/>
          </a:p>
          <a:p>
            <a:pPr indent="-294005" lvl="0" marL="457200" marR="0" rtl="0" algn="l">
              <a:lnSpc>
                <a:spcPct val="105000"/>
              </a:lnSpc>
              <a:spcBef>
                <a:spcPts val="0"/>
              </a:spcBef>
              <a:spcAft>
                <a:spcPts val="0"/>
              </a:spcAft>
              <a:buClr>
                <a:srgbClr val="374151"/>
              </a:buClr>
              <a:buSzPts val="1030"/>
              <a:buFont typeface="Roboto"/>
              <a:buAutoNum type="arabicPeriod"/>
            </a:pPr>
            <a:r>
              <a:rPr b="1" lang="en" sz="1185"/>
              <a:t>Reparación de Defectos</a:t>
            </a:r>
            <a:r>
              <a:rPr lang="en" sz="1185"/>
              <a:t>: Cualquier defecto crítico debe ser reparado en un plazo máximo de 24 horas desde su detección.</a:t>
            </a:r>
            <a:endParaRPr sz="1185"/>
          </a:p>
          <a:p>
            <a:pPr indent="-294005" lvl="0" marL="457200" marR="0" rtl="0" algn="l">
              <a:lnSpc>
                <a:spcPct val="105000"/>
              </a:lnSpc>
              <a:spcBef>
                <a:spcPts val="0"/>
              </a:spcBef>
              <a:spcAft>
                <a:spcPts val="0"/>
              </a:spcAft>
              <a:buClr>
                <a:srgbClr val="374151"/>
              </a:buClr>
              <a:buSzPts val="1030"/>
              <a:buFont typeface="Roboto"/>
              <a:buAutoNum type="arabicPeriod"/>
            </a:pPr>
            <a:r>
              <a:rPr b="1" lang="en" sz="1185"/>
              <a:t>Distribución de Datos:</a:t>
            </a:r>
            <a:r>
              <a:rPr lang="en" sz="1185"/>
              <a:t> Los datos del sistema deben estar distribuidos en diferentes sistemas ubicados en diferentes lugares físicos para garantizar redundancia y alta disponibilidad.</a:t>
            </a:r>
            <a:endParaRPr sz="1185"/>
          </a:p>
          <a:p>
            <a:pPr indent="0" lvl="0" marL="0" rtl="0" algn="l">
              <a:lnSpc>
                <a:spcPct val="105000"/>
              </a:lnSpc>
              <a:spcBef>
                <a:spcPts val="1500"/>
              </a:spcBef>
              <a:spcAft>
                <a:spcPts val="1200"/>
              </a:spcAft>
              <a:buSzPts val="852"/>
              <a:buNone/>
            </a:pPr>
            <a:r>
              <a:t/>
            </a:r>
            <a:endParaRPr sz="118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555600"/>
            <a:ext cx="80637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Más requerimientos No funcionales / atributos de calidad</a:t>
            </a:r>
            <a:endParaRPr/>
          </a:p>
        </p:txBody>
      </p:sp>
      <p:sp>
        <p:nvSpPr>
          <p:cNvPr id="97" name="Google Shape;97;p18"/>
          <p:cNvSpPr txBox="1"/>
          <p:nvPr>
            <p:ph idx="1" type="body"/>
          </p:nvPr>
        </p:nvSpPr>
        <p:spPr>
          <a:xfrm>
            <a:off x="311700" y="1389600"/>
            <a:ext cx="7959900" cy="3537600"/>
          </a:xfrm>
          <a:prstGeom prst="rect">
            <a:avLst/>
          </a:prstGeom>
        </p:spPr>
        <p:txBody>
          <a:bodyPr anchorCtr="0" anchor="t" bIns="91425" lIns="91425" spcFirstLastPara="1" rIns="91425" wrap="square" tIns="91425">
            <a:noAutofit/>
          </a:bodyPr>
          <a:lstStyle/>
          <a:p>
            <a:pPr indent="-311150" lvl="0" marL="457200" marR="0" rtl="0" algn="l">
              <a:lnSpc>
                <a:spcPct val="105000"/>
              </a:lnSpc>
              <a:spcBef>
                <a:spcPts val="1500"/>
              </a:spcBef>
              <a:spcAft>
                <a:spcPts val="0"/>
              </a:spcAft>
              <a:buClr>
                <a:srgbClr val="374151"/>
              </a:buClr>
              <a:buSzPts val="1300"/>
              <a:buFont typeface="Roboto"/>
              <a:buAutoNum type="arabicPeriod"/>
            </a:pPr>
            <a:r>
              <a:rPr b="1" lang="en" sz="1500"/>
              <a:t>Soporte para Diferentes Dispositivos:</a:t>
            </a:r>
            <a:r>
              <a:rPr lang="en" sz="1500"/>
              <a:t> El sistema debe ser accesible desde diferentes tipos de dispositivos, como computadoras de escritorio, dispositivos móviles y tablets.</a:t>
            </a:r>
            <a:endParaRPr sz="1500"/>
          </a:p>
          <a:p>
            <a:pPr indent="-311150" lvl="0" marL="457200" marR="0" rtl="0" algn="l">
              <a:lnSpc>
                <a:spcPct val="105000"/>
              </a:lnSpc>
              <a:spcBef>
                <a:spcPts val="0"/>
              </a:spcBef>
              <a:spcAft>
                <a:spcPts val="0"/>
              </a:spcAft>
              <a:buClr>
                <a:srgbClr val="374151"/>
              </a:buClr>
              <a:buSzPts val="1300"/>
              <a:buFont typeface="Roboto"/>
              <a:buAutoNum type="arabicPeriod"/>
            </a:pPr>
            <a:r>
              <a:rPr b="1" lang="en" sz="1500"/>
              <a:t>Soporte Multilingüe:</a:t>
            </a:r>
            <a:r>
              <a:rPr lang="en" sz="1500"/>
              <a:t> El sistema debe ser capaz de presentar la información en diferentes lenguajes según las preferencias del usuario.</a:t>
            </a:r>
            <a:endParaRPr sz="1500"/>
          </a:p>
          <a:p>
            <a:pPr indent="-311150" lvl="0" marL="457200" marR="0" rtl="0" algn="l">
              <a:lnSpc>
                <a:spcPct val="105000"/>
              </a:lnSpc>
              <a:spcBef>
                <a:spcPts val="0"/>
              </a:spcBef>
              <a:spcAft>
                <a:spcPts val="0"/>
              </a:spcAft>
              <a:buClr>
                <a:srgbClr val="374151"/>
              </a:buClr>
              <a:buSzPts val="1300"/>
              <a:buFont typeface="Roboto"/>
              <a:buAutoNum type="arabicPeriod"/>
            </a:pPr>
            <a:r>
              <a:rPr b="1" lang="en" sz="1500"/>
              <a:t>Impresión en Diferentes Impresoras:</a:t>
            </a:r>
            <a:r>
              <a:rPr lang="en" sz="1500"/>
              <a:t> El sistema debe ser compatible con diferentes tipos de impresoras para imprimir tickets y otros documentos.</a:t>
            </a:r>
            <a:endParaRPr sz="1500"/>
          </a:p>
          <a:p>
            <a:pPr indent="-311150" lvl="0" marL="457200" marR="0" rtl="0" algn="l">
              <a:lnSpc>
                <a:spcPct val="105000"/>
              </a:lnSpc>
              <a:spcBef>
                <a:spcPts val="0"/>
              </a:spcBef>
              <a:spcAft>
                <a:spcPts val="0"/>
              </a:spcAft>
              <a:buClr>
                <a:srgbClr val="374151"/>
              </a:buClr>
              <a:buSzPts val="1300"/>
              <a:buFont typeface="Roboto"/>
              <a:buAutoNum type="arabicPeriod"/>
            </a:pPr>
            <a:r>
              <a:rPr b="1" lang="en" sz="1500"/>
              <a:t>Cumplimiento de Regulaciones Internacionales:</a:t>
            </a:r>
            <a:r>
              <a:rPr lang="en" sz="1500"/>
              <a:t> El sistema debe cumplir con regulaciones internacionales, como las relacionadas con la privacidad de los datos del cliente y la seguridad de la información.</a:t>
            </a:r>
            <a:endParaRPr sz="1500"/>
          </a:p>
          <a:p>
            <a:pPr indent="-323850" lvl="0" marL="457200" marR="0" rtl="0" algn="l">
              <a:lnSpc>
                <a:spcPct val="105000"/>
              </a:lnSpc>
              <a:spcBef>
                <a:spcPts val="0"/>
              </a:spcBef>
              <a:spcAft>
                <a:spcPts val="0"/>
              </a:spcAft>
              <a:buSzPts val="1500"/>
              <a:buAutoNum type="arabicPeriod"/>
            </a:pPr>
            <a:r>
              <a:rPr lang="en" sz="1500"/>
              <a:t>Se requiere que los usuarios puedan acceder a la aplicación desde cualquier ubicación geográfica</a:t>
            </a:r>
            <a:endParaRPr sz="1500"/>
          </a:p>
          <a:p>
            <a:pPr indent="0" lvl="0" marL="0" rtl="0" algn="l">
              <a:lnSpc>
                <a:spcPct val="105000"/>
              </a:lnSpc>
              <a:spcBef>
                <a:spcPts val="1500"/>
              </a:spcBef>
              <a:spcAft>
                <a:spcPts val="1200"/>
              </a:spcAft>
              <a:buNone/>
            </a:pPr>
            <a:r>
              <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Vistas que podríamos generar</a:t>
            </a:r>
            <a:endParaRPr/>
          </a:p>
        </p:txBody>
      </p:sp>
      <p:sp>
        <p:nvSpPr>
          <p:cNvPr id="103" name="Google Shape;103;p19"/>
          <p:cNvSpPr txBox="1"/>
          <p:nvPr>
            <p:ph idx="1" type="body"/>
          </p:nvPr>
        </p:nvSpPr>
        <p:spPr>
          <a:xfrm>
            <a:off x="311700" y="1234050"/>
            <a:ext cx="4602300" cy="333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1075"/>
              <a:t>Usando ISO/IEC 42010</a:t>
            </a:r>
            <a:endParaRPr b="1" sz="1075"/>
          </a:p>
          <a:p>
            <a:pPr indent="-296862" lvl="0" marL="457200" marR="0" rtl="0" algn="l">
              <a:lnSpc>
                <a:spcPct val="95000"/>
              </a:lnSpc>
              <a:spcBef>
                <a:spcPts val="1200"/>
              </a:spcBef>
              <a:spcAft>
                <a:spcPts val="0"/>
              </a:spcAft>
              <a:buSzPts val="1075"/>
              <a:buChar char="●"/>
            </a:pPr>
            <a:r>
              <a:rPr b="1" lang="en" sz="1075"/>
              <a:t>Vista de Contexto (Contextual View):</a:t>
            </a:r>
            <a:r>
              <a:rPr lang="en" sz="1075"/>
              <a:t> Esta vista se centra en la comprensión del sistema dentro de su entorno más amplio. Proporciona una visión de alto nivel de cómo el sistema interactúa con sus partes externas, como otros sistemas, actores y entidades. En el contexto del sistema de reservación de vuelos en línea, esto podría incluir la relación con otros sistemas de aerolíneas, agencias de viajes, proveedores de servicios en la nube, reguladores y usuarios finales. - </a:t>
            </a:r>
            <a:r>
              <a:rPr b="1" lang="en" sz="1075"/>
              <a:t>Modelo: diagrama de cajas y líneas</a:t>
            </a:r>
            <a:endParaRPr b="1" sz="1075"/>
          </a:p>
          <a:p>
            <a:pPr indent="0" lvl="0" marL="457200" marR="0" rtl="0" algn="l">
              <a:lnSpc>
                <a:spcPct val="95000"/>
              </a:lnSpc>
              <a:spcBef>
                <a:spcPts val="0"/>
              </a:spcBef>
              <a:spcAft>
                <a:spcPts val="0"/>
              </a:spcAft>
              <a:buNone/>
            </a:pPr>
            <a:r>
              <a:t/>
            </a:r>
            <a:endParaRPr b="1" sz="1075"/>
          </a:p>
          <a:p>
            <a:pPr indent="-296862" lvl="0" marL="457200" marR="0" rtl="0" algn="l">
              <a:lnSpc>
                <a:spcPct val="95000"/>
              </a:lnSpc>
              <a:spcBef>
                <a:spcPts val="1500"/>
              </a:spcBef>
              <a:spcAft>
                <a:spcPts val="0"/>
              </a:spcAft>
              <a:buSzPts val="1075"/>
              <a:buChar char="●"/>
            </a:pPr>
            <a:r>
              <a:rPr b="1" lang="en" sz="1075"/>
              <a:t>Vista de Información (Information View)</a:t>
            </a:r>
            <a:r>
              <a:rPr lang="en" sz="1075"/>
              <a:t>: Esta vista se enfoca en la estructura de la información utilizada o gestionada por el sistema. En el caso de la aerolínea, esta vista podría representar cómo se almacenan y gestionan los datos de los clientes, los detalles de los vuelos, las reservaciones, los precios de los boletos y otros datos relevantes. </a:t>
            </a:r>
            <a:r>
              <a:rPr b="1" lang="en" sz="1075"/>
              <a:t>- Modelo: diagrama entidad relación, modelos de flujo de información</a:t>
            </a:r>
            <a:endParaRPr b="1" sz="950">
              <a:solidFill>
                <a:srgbClr val="374151"/>
              </a:solidFill>
              <a:highlight>
                <a:srgbClr val="F7F7F8"/>
              </a:highlight>
              <a:latin typeface="Roboto"/>
              <a:ea typeface="Roboto"/>
              <a:cs typeface="Roboto"/>
              <a:sym typeface="Roboto"/>
            </a:endParaRPr>
          </a:p>
          <a:p>
            <a:pPr indent="0" lvl="0" marL="0" rtl="0" algn="l">
              <a:lnSpc>
                <a:spcPct val="95000"/>
              </a:lnSpc>
              <a:spcBef>
                <a:spcPts val="1500"/>
              </a:spcBef>
              <a:spcAft>
                <a:spcPts val="1200"/>
              </a:spcAft>
              <a:buSzPts val="688"/>
              <a:buNone/>
            </a:pPr>
            <a:r>
              <a:t/>
            </a:r>
            <a:endParaRPr b="1" sz="1075"/>
          </a:p>
        </p:txBody>
      </p:sp>
      <p:sp>
        <p:nvSpPr>
          <p:cNvPr id="104" name="Google Shape;104;p19"/>
          <p:cNvSpPr txBox="1"/>
          <p:nvPr>
            <p:ph idx="2" type="body"/>
          </p:nvPr>
        </p:nvSpPr>
        <p:spPr>
          <a:xfrm>
            <a:off x="4914000" y="1423325"/>
            <a:ext cx="3999900" cy="3334800"/>
          </a:xfrm>
          <a:prstGeom prst="rect">
            <a:avLst/>
          </a:prstGeom>
        </p:spPr>
        <p:txBody>
          <a:bodyPr anchorCtr="0" anchor="t" bIns="91425" lIns="91425" spcFirstLastPara="1" rIns="91425" wrap="square" tIns="91425">
            <a:normAutofit fontScale="70000" lnSpcReduction="10000"/>
          </a:bodyPr>
          <a:lstStyle/>
          <a:p>
            <a:pPr indent="-290830" lvl="0" marL="457200" marR="0" rtl="0" algn="l">
              <a:lnSpc>
                <a:spcPct val="115000"/>
              </a:lnSpc>
              <a:spcBef>
                <a:spcPts val="1500"/>
              </a:spcBef>
              <a:spcAft>
                <a:spcPts val="0"/>
              </a:spcAft>
              <a:buSzPct val="100000"/>
              <a:buChar char="●"/>
            </a:pPr>
            <a:r>
              <a:rPr b="1" lang="en"/>
              <a:t>Vista de Componentes (Component View)</a:t>
            </a:r>
            <a:r>
              <a:rPr lang="en"/>
              <a:t>: Esta vista describe los componentes del sistema y cómo se organizan y colaboran entre sí para proporcionar la funcionalidad requerida. En el contexto de la reserva de vuelos en línea, esta vista podría representar los componentes del sistema, como la interfaz de usuario, la lógica de negocio, la base de datos, los servicios de pago y los servicios de impresión. - </a:t>
            </a:r>
            <a:r>
              <a:rPr b="1" lang="en"/>
              <a:t>Modelo: vista de componentes UML</a:t>
            </a:r>
            <a:endParaRPr b="1"/>
          </a:p>
          <a:p>
            <a:pPr indent="0" lvl="0" marL="0" marR="0" rtl="0" algn="l">
              <a:lnSpc>
                <a:spcPct val="115000"/>
              </a:lnSpc>
              <a:spcBef>
                <a:spcPts val="1500"/>
              </a:spcBef>
              <a:spcAft>
                <a:spcPts val="0"/>
              </a:spcAft>
              <a:buNone/>
            </a:pPr>
            <a:r>
              <a:t/>
            </a:r>
            <a:endParaRPr/>
          </a:p>
          <a:p>
            <a:pPr indent="-290830" lvl="0" marL="457200" marR="0" rtl="0" algn="l">
              <a:lnSpc>
                <a:spcPct val="115000"/>
              </a:lnSpc>
              <a:spcBef>
                <a:spcPts val="1500"/>
              </a:spcBef>
              <a:spcAft>
                <a:spcPts val="0"/>
              </a:spcAft>
              <a:buSzPct val="100000"/>
              <a:buChar char="●"/>
            </a:pPr>
            <a:r>
              <a:rPr b="1" lang="en"/>
              <a:t>Vista de Distribución/despliegue (Deployment View)</a:t>
            </a:r>
            <a:r>
              <a:rPr lang="en"/>
              <a:t>: Esta vista se centra en cómo se despliegan los componentes del sistema en hardware y software. Muestra la topología de implementación, incluidos los servidores, la red y otros recursos necesarios para ejecutar el sistema. En este caso, podría incluir servidores web, bases de datos distribuidas, servidores de aplicaciones y dispositivos de usuario. - </a:t>
            </a:r>
            <a:r>
              <a:rPr b="1" lang="en"/>
              <a:t>Modelo: vista de deployment UML</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Diseñar la arquitectura</a:t>
            </a:r>
            <a:endParaRPr/>
          </a:p>
        </p:txBody>
      </p:sp>
      <p:sp>
        <p:nvSpPr>
          <p:cNvPr id="110" name="Google Shape;110;p2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Seleccionar uno o varios frameworks de arquitectura</a:t>
            </a:r>
            <a:endParaRPr/>
          </a:p>
          <a:p>
            <a:pPr indent="-342900" lvl="0" marL="457200" rtl="0" algn="l">
              <a:spcBef>
                <a:spcPts val="0"/>
              </a:spcBef>
              <a:spcAft>
                <a:spcPts val="0"/>
              </a:spcAft>
              <a:buSzPts val="1800"/>
              <a:buChar char="●"/>
            </a:pPr>
            <a:r>
              <a:rPr lang="en"/>
              <a:t>Identificar componentes </a:t>
            </a:r>
            <a:endParaRPr/>
          </a:p>
          <a:p>
            <a:pPr indent="-342900" lvl="0" marL="457200" rtl="0" algn="l">
              <a:spcBef>
                <a:spcPts val="0"/>
              </a:spcBef>
              <a:spcAft>
                <a:spcPts val="0"/>
              </a:spcAft>
              <a:buSzPts val="1800"/>
              <a:buChar char="●"/>
            </a:pPr>
            <a:r>
              <a:rPr lang="en"/>
              <a:t>Distribuir los componentes en los frameworks seleccionados</a:t>
            </a:r>
            <a:endParaRPr/>
          </a:p>
          <a:p>
            <a:pPr indent="-342900" lvl="0" marL="457200" rtl="0" algn="l">
              <a:spcBef>
                <a:spcPts val="0"/>
              </a:spcBef>
              <a:spcAft>
                <a:spcPts val="0"/>
              </a:spcAft>
              <a:buSzPts val="1800"/>
              <a:buChar char="●"/>
            </a:pPr>
            <a:r>
              <a:rPr lang="en"/>
              <a:t>Generar vistas de la arquitectura y documentar la arquitectura</a:t>
            </a:r>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Arquitecturas candidatas</a:t>
            </a:r>
            <a:endParaRPr/>
          </a:p>
        </p:txBody>
      </p:sp>
      <p:sp>
        <p:nvSpPr>
          <p:cNvPr id="116" name="Google Shape;116;p21"/>
          <p:cNvSpPr txBox="1"/>
          <p:nvPr>
            <p:ph idx="1" type="body"/>
          </p:nvPr>
        </p:nvSpPr>
        <p:spPr>
          <a:xfrm>
            <a:off x="311700" y="1234050"/>
            <a:ext cx="3999900" cy="3750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en" sz="975"/>
              <a:t>Propuesta A - </a:t>
            </a:r>
            <a:r>
              <a:rPr b="1" lang="en" sz="975"/>
              <a:t>B</a:t>
            </a:r>
            <a:r>
              <a:rPr b="1" lang="en" sz="975"/>
              <a:t>asada en microservicios y en la nube</a:t>
            </a:r>
            <a:endParaRPr b="1" sz="975"/>
          </a:p>
          <a:p>
            <a:pPr indent="-290512" lvl="0" marL="457200" rtl="0" algn="l">
              <a:lnSpc>
                <a:spcPct val="140000"/>
              </a:lnSpc>
              <a:spcBef>
                <a:spcPts val="1200"/>
              </a:spcBef>
              <a:spcAft>
                <a:spcPts val="0"/>
              </a:spcAft>
              <a:buSzPts val="975"/>
              <a:buChar char="●"/>
            </a:pPr>
            <a:r>
              <a:rPr b="1" lang="en" sz="975"/>
              <a:t>Frontend Web y Aplicaciones Móviles</a:t>
            </a:r>
            <a:r>
              <a:rPr lang="en" sz="975"/>
              <a:t>: compatibilidad múltiples dispositivos.</a:t>
            </a:r>
            <a:endParaRPr sz="975"/>
          </a:p>
          <a:p>
            <a:pPr indent="-290512" lvl="0" marL="457200" rtl="0" algn="l">
              <a:lnSpc>
                <a:spcPct val="140000"/>
              </a:lnSpc>
              <a:spcBef>
                <a:spcPts val="0"/>
              </a:spcBef>
              <a:spcAft>
                <a:spcPts val="0"/>
              </a:spcAft>
              <a:buSzPts val="975"/>
              <a:buChar char="●"/>
            </a:pPr>
            <a:r>
              <a:rPr b="1" lang="en" sz="975"/>
              <a:t>Microservicios de Reservación</a:t>
            </a:r>
            <a:r>
              <a:rPr lang="en" sz="975"/>
              <a:t>: Componente que maneja la lógica de reservación, actualización, transferencia, mejora y cancelación de asientos. Estos microservicios se </a:t>
            </a:r>
            <a:r>
              <a:rPr lang="en" sz="975"/>
              <a:t>escalarán</a:t>
            </a:r>
            <a:r>
              <a:rPr lang="en" sz="975"/>
              <a:t> horizontalmente (rendimiento).</a:t>
            </a:r>
            <a:endParaRPr sz="975"/>
          </a:p>
          <a:p>
            <a:pPr indent="-290512" lvl="0" marL="457200" rtl="0" algn="l">
              <a:lnSpc>
                <a:spcPct val="140000"/>
              </a:lnSpc>
              <a:spcBef>
                <a:spcPts val="0"/>
              </a:spcBef>
              <a:spcAft>
                <a:spcPts val="0"/>
              </a:spcAft>
              <a:buSzPts val="975"/>
              <a:buChar char="●"/>
            </a:pPr>
            <a:r>
              <a:rPr b="1" lang="en" sz="975"/>
              <a:t>Servicios de Distribución de Datos</a:t>
            </a:r>
            <a:r>
              <a:rPr lang="en" sz="975"/>
              <a:t>: Utiliza una arquitectura de base de datos distribuida para garantizar la redundancia y la alta disponibilidad de los datos de reservación.</a:t>
            </a:r>
            <a:endParaRPr sz="975"/>
          </a:p>
          <a:p>
            <a:pPr indent="-290512" lvl="0" marL="457200" rtl="0" algn="l">
              <a:lnSpc>
                <a:spcPct val="140000"/>
              </a:lnSpc>
              <a:spcBef>
                <a:spcPts val="0"/>
              </a:spcBef>
              <a:spcAft>
                <a:spcPts val="0"/>
              </a:spcAft>
              <a:buSzPts val="975"/>
              <a:buChar char="●"/>
            </a:pPr>
            <a:r>
              <a:rPr b="1" lang="en" sz="975"/>
              <a:t>Servicio de Internacionalización</a:t>
            </a:r>
            <a:r>
              <a:rPr lang="en" sz="975"/>
              <a:t>: Gestiona la presentación de la información en diferentes idiomas.</a:t>
            </a:r>
            <a:endParaRPr sz="975"/>
          </a:p>
          <a:p>
            <a:pPr indent="-290512" lvl="0" marL="457200" rtl="0" algn="l">
              <a:lnSpc>
                <a:spcPct val="140000"/>
              </a:lnSpc>
              <a:spcBef>
                <a:spcPts val="0"/>
              </a:spcBef>
              <a:spcAft>
                <a:spcPts val="0"/>
              </a:spcAft>
              <a:buSzPts val="975"/>
              <a:buChar char="●"/>
            </a:pPr>
            <a:r>
              <a:rPr b="1" lang="en" sz="975"/>
              <a:t>Sistema de Impresión</a:t>
            </a:r>
            <a:r>
              <a:rPr lang="en" sz="975"/>
              <a:t>: Administra la impresión de tickets y documentos en diferentes tipos de impresoras.</a:t>
            </a:r>
            <a:endParaRPr sz="975"/>
          </a:p>
          <a:p>
            <a:pPr indent="-290512" lvl="0" marL="457200" rtl="0" algn="l">
              <a:lnSpc>
                <a:spcPct val="140000"/>
              </a:lnSpc>
              <a:spcBef>
                <a:spcPts val="0"/>
              </a:spcBef>
              <a:spcAft>
                <a:spcPts val="0"/>
              </a:spcAft>
              <a:buSzPts val="975"/>
              <a:buChar char="●"/>
            </a:pPr>
            <a:r>
              <a:rPr b="1" lang="en" sz="975"/>
              <a:t>Capa de Seguridad</a:t>
            </a:r>
            <a:r>
              <a:rPr lang="en" sz="975"/>
              <a:t>: Implementa medidas de seguridad, como cifrado y autenticación, para proteger los datos del usuario y cumplir con las regulaciones.</a:t>
            </a:r>
            <a:endParaRPr sz="975"/>
          </a:p>
          <a:p>
            <a:pPr indent="0" lvl="0" marL="0" rtl="0" algn="l">
              <a:lnSpc>
                <a:spcPct val="105000"/>
              </a:lnSpc>
              <a:spcBef>
                <a:spcPts val="1200"/>
              </a:spcBef>
              <a:spcAft>
                <a:spcPts val="1200"/>
              </a:spcAft>
              <a:buSzPts val="688"/>
              <a:buNone/>
            </a:pPr>
            <a:r>
              <a:t/>
            </a:r>
            <a:endParaRPr b="1" sz="975"/>
          </a:p>
        </p:txBody>
      </p:sp>
      <p:sp>
        <p:nvSpPr>
          <p:cNvPr id="117" name="Google Shape;117;p21"/>
          <p:cNvSpPr txBox="1"/>
          <p:nvPr>
            <p:ph idx="2" type="body"/>
          </p:nvPr>
        </p:nvSpPr>
        <p:spPr>
          <a:xfrm>
            <a:off x="4832400" y="1234050"/>
            <a:ext cx="4069500" cy="3750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Propuesta B - </a:t>
            </a:r>
            <a:r>
              <a:rPr b="1" lang="en"/>
              <a:t>N-Capas</a:t>
            </a:r>
            <a:endParaRPr b="1"/>
          </a:p>
          <a:p>
            <a:pPr indent="-290830" lvl="0" marL="457200" rtl="0" algn="l">
              <a:lnSpc>
                <a:spcPct val="150000"/>
              </a:lnSpc>
              <a:spcBef>
                <a:spcPts val="1200"/>
              </a:spcBef>
              <a:spcAft>
                <a:spcPts val="0"/>
              </a:spcAft>
              <a:buSzPct val="100000"/>
              <a:buChar char="●"/>
            </a:pPr>
            <a:r>
              <a:rPr b="1" lang="en"/>
              <a:t>Capa de Presentación (Interfaz de Usuario):</a:t>
            </a:r>
            <a:r>
              <a:rPr lang="en"/>
              <a:t> Esta capa maneja la interacción del usuario y presenta la información de manera amigable, incluye la interfaz web para clientes y aplicaciones móviles, incluye operadores y administradores de la aerolínea</a:t>
            </a:r>
            <a:endParaRPr/>
          </a:p>
          <a:p>
            <a:pPr indent="-290830" lvl="0" marL="457200" rtl="0" algn="l">
              <a:lnSpc>
                <a:spcPct val="150000"/>
              </a:lnSpc>
              <a:spcBef>
                <a:spcPts val="0"/>
              </a:spcBef>
              <a:spcAft>
                <a:spcPts val="0"/>
              </a:spcAft>
              <a:buSzPct val="100000"/>
              <a:buChar char="●"/>
            </a:pPr>
            <a:r>
              <a:rPr b="1" lang="en"/>
              <a:t>Capa de Aplicación o Lógica de Negocio</a:t>
            </a:r>
            <a:r>
              <a:rPr lang="en"/>
              <a:t>: incluye todas las funcionalidades para el pasajero y operador</a:t>
            </a:r>
            <a:endParaRPr/>
          </a:p>
          <a:p>
            <a:pPr indent="-290830" lvl="0" marL="457200" rtl="0" algn="l">
              <a:lnSpc>
                <a:spcPct val="150000"/>
              </a:lnSpc>
              <a:spcBef>
                <a:spcPts val="0"/>
              </a:spcBef>
              <a:spcAft>
                <a:spcPts val="0"/>
              </a:spcAft>
              <a:buSzPct val="100000"/>
              <a:buChar char="●"/>
            </a:pPr>
            <a:r>
              <a:rPr b="1" lang="en"/>
              <a:t>Capa de datos o persistencia: </a:t>
            </a:r>
            <a:r>
              <a:rPr lang="en"/>
              <a:t>almacenamiento de la información, Utiliza tecnologías de bases de datos relacionales y distribuidas para garantizar la integridad y disponibilidad de los datos.</a:t>
            </a:r>
            <a:endParaRPr/>
          </a:p>
          <a:p>
            <a:pPr indent="-290830" lvl="0" marL="457200" rtl="0" algn="l">
              <a:lnSpc>
                <a:spcPct val="150000"/>
              </a:lnSpc>
              <a:spcBef>
                <a:spcPts val="0"/>
              </a:spcBef>
              <a:spcAft>
                <a:spcPts val="0"/>
              </a:spcAft>
              <a:buSzPct val="100000"/>
              <a:buChar char="●"/>
            </a:pPr>
            <a:r>
              <a:rPr b="1" lang="en"/>
              <a:t>Capa de seguridad:</a:t>
            </a:r>
            <a:r>
              <a:rPr lang="en"/>
              <a:t> se dedica a proteger los datos y la integridad del sistema.</a:t>
            </a:r>
            <a:endParaRPr b="1"/>
          </a:p>
          <a:p>
            <a:pPr indent="-290830" lvl="0" marL="457200" rtl="0" algn="l">
              <a:lnSpc>
                <a:spcPct val="150000"/>
              </a:lnSpc>
              <a:spcBef>
                <a:spcPts val="0"/>
              </a:spcBef>
              <a:spcAft>
                <a:spcPts val="0"/>
              </a:spcAft>
              <a:buSzPct val="100000"/>
              <a:buChar char="●"/>
            </a:pPr>
            <a:r>
              <a:rPr b="1" lang="en"/>
              <a:t>Capa de integración: </a:t>
            </a:r>
            <a:r>
              <a:rPr lang="en"/>
              <a:t> facilita la integración con sistemas externos, como proveedores de servicios de pago (incluyendo tarjeta de crédito), reguladores, emisión de factura electrónica y otros sistemas de aerolíneas.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idx="1" type="body"/>
          </p:nvPr>
        </p:nvSpPr>
        <p:spPr>
          <a:xfrm>
            <a:off x="152400" y="446142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Vistas - diagramas / modelos</a:t>
            </a:r>
            <a:endParaRPr/>
          </a:p>
        </p:txBody>
      </p:sp>
      <p:pic>
        <p:nvPicPr>
          <p:cNvPr id="123" name="Google Shape;123;p22"/>
          <p:cNvPicPr preferRelativeResize="0"/>
          <p:nvPr/>
        </p:nvPicPr>
        <p:blipFill>
          <a:blip r:embed="rId3">
            <a:alphaModFix/>
          </a:blip>
          <a:stretch>
            <a:fillRect/>
          </a:stretch>
        </p:blipFill>
        <p:spPr>
          <a:xfrm>
            <a:off x="152400" y="152400"/>
            <a:ext cx="4019448" cy="3925775"/>
          </a:xfrm>
          <a:prstGeom prst="rect">
            <a:avLst/>
          </a:prstGeom>
          <a:noFill/>
          <a:ln>
            <a:noFill/>
          </a:ln>
        </p:spPr>
      </p:pic>
      <p:pic>
        <p:nvPicPr>
          <p:cNvPr id="124" name="Google Shape;124;p22"/>
          <p:cNvPicPr preferRelativeResize="0"/>
          <p:nvPr/>
        </p:nvPicPr>
        <p:blipFill>
          <a:blip r:embed="rId4">
            <a:alphaModFix/>
          </a:blip>
          <a:stretch>
            <a:fillRect/>
          </a:stretch>
        </p:blipFill>
        <p:spPr>
          <a:xfrm>
            <a:off x="4439648" y="524150"/>
            <a:ext cx="4667352" cy="3182285"/>
          </a:xfrm>
          <a:prstGeom prst="rect">
            <a:avLst/>
          </a:prstGeom>
          <a:noFill/>
          <a:ln>
            <a:noFill/>
          </a:ln>
        </p:spPr>
      </p:pic>
      <p:sp>
        <p:nvSpPr>
          <p:cNvPr id="125" name="Google Shape;125;p22"/>
          <p:cNvSpPr/>
          <p:nvPr/>
        </p:nvSpPr>
        <p:spPr>
          <a:xfrm rot="3093512">
            <a:off x="7693961" y="3666301"/>
            <a:ext cx="614751" cy="564151"/>
          </a:xfrm>
          <a:prstGeom prst="rightArrow">
            <a:avLst>
              <a:gd fmla="val 53660" name="adj1"/>
              <a:gd fmla="val 49983"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layfair Display"/>
              <a:ea typeface="Playfair Display"/>
              <a:cs typeface="Playfair Display"/>
              <a:sym typeface="Playfair Display"/>
            </a:endParaRPr>
          </a:p>
        </p:txBody>
      </p:sp>
      <p:sp>
        <p:nvSpPr>
          <p:cNvPr id="126" name="Google Shape;126;p22"/>
          <p:cNvSpPr txBox="1"/>
          <p:nvPr/>
        </p:nvSpPr>
        <p:spPr>
          <a:xfrm>
            <a:off x="7834275" y="4414900"/>
            <a:ext cx="1067700" cy="1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layfair Display"/>
                <a:ea typeface="Playfair Display"/>
                <a:cs typeface="Playfair Display"/>
                <a:sym typeface="Playfair Display"/>
              </a:rPr>
              <a:t>N-Capas</a:t>
            </a:r>
            <a:endParaRPr>
              <a:latin typeface="Playfair Display"/>
              <a:ea typeface="Playfair Display"/>
              <a:cs typeface="Playfair Display"/>
              <a:sym typeface="Playfair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idx="1" type="body"/>
          </p:nvPr>
        </p:nvSpPr>
        <p:spPr>
          <a:xfrm>
            <a:off x="297275" y="441092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Vistas - Diagramas / Modelos</a:t>
            </a:r>
            <a:endParaRPr/>
          </a:p>
        </p:txBody>
      </p:sp>
      <p:sp>
        <p:nvSpPr>
          <p:cNvPr id="132" name="Google Shape;132;p23"/>
          <p:cNvSpPr txBox="1"/>
          <p:nvPr/>
        </p:nvSpPr>
        <p:spPr>
          <a:xfrm>
            <a:off x="6319375" y="4523100"/>
            <a:ext cx="22434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Playfair Display"/>
                <a:ea typeface="Playfair Display"/>
                <a:cs typeface="Playfair Display"/>
                <a:sym typeface="Playfair Display"/>
                <a:hlinkClick r:id="rId3"/>
              </a:rPr>
              <a:t>Draw.io - diagramas</a:t>
            </a:r>
            <a:endParaRPr>
              <a:latin typeface="Playfair Display"/>
              <a:ea typeface="Playfair Display"/>
              <a:cs typeface="Playfair Display"/>
              <a:sym typeface="Playfair Display"/>
            </a:endParaRPr>
          </a:p>
        </p:txBody>
      </p:sp>
      <p:pic>
        <p:nvPicPr>
          <p:cNvPr id="133" name="Google Shape;133;p23"/>
          <p:cNvPicPr preferRelativeResize="0"/>
          <p:nvPr/>
        </p:nvPicPr>
        <p:blipFill>
          <a:blip r:embed="rId4">
            <a:alphaModFix/>
          </a:blip>
          <a:stretch>
            <a:fillRect/>
          </a:stretch>
        </p:blipFill>
        <p:spPr>
          <a:xfrm>
            <a:off x="1931913" y="174050"/>
            <a:ext cx="5280181" cy="4106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999925"/>
            <a:ext cx="8520600" cy="2146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5000"/>
              <a:t>Validemos las decisiones</a:t>
            </a:r>
            <a:endParaRPr sz="5000"/>
          </a:p>
        </p:txBody>
      </p:sp>
      <p:sp>
        <p:nvSpPr>
          <p:cNvPr id="139" name="Google Shape;139;p24"/>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Ejercicio en clase</a:t>
            </a:r>
            <a:endParaRPr/>
          </a:p>
        </p:txBody>
      </p:sp>
      <p:sp>
        <p:nvSpPr>
          <p:cNvPr id="140" name="Google Shape;140;p24"/>
          <p:cNvSpPr txBox="1"/>
          <p:nvPr/>
        </p:nvSpPr>
        <p:spPr>
          <a:xfrm>
            <a:off x="706975" y="3859425"/>
            <a:ext cx="5987400" cy="7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layfair Display"/>
                <a:ea typeface="Playfair Display"/>
                <a:cs typeface="Playfair Display"/>
                <a:sym typeface="Playfair Display"/>
              </a:rPr>
              <a:t>Usando la técnica de escenarios, decida la arquitectura que mejor se ajuste a las necesidades de los clientes, luego elabore un documento de arquitectura, ese será su entregable.</a:t>
            </a:r>
            <a:endParaRPr>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