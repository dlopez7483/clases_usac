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5143500" cx="9144000"/>
  <p:notesSz cx="6858000" cy="9144000"/>
  <p:embeddedFontLst>
    <p:embeddedFont>
      <p:font typeface="Lato"/>
      <p:regular r:id="rId26"/>
      <p:bold r:id="rId27"/>
      <p:italic r:id="rId28"/>
      <p:boldItalic r:id="rId29"/>
    </p:embeddedFont>
    <p:embeddedFont>
      <p:font typeface="Lato Light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ato-regular.fntdata"/><Relationship Id="rId25" Type="http://schemas.openxmlformats.org/officeDocument/2006/relationships/slide" Target="slides/slide20.xml"/><Relationship Id="rId28" Type="http://schemas.openxmlformats.org/officeDocument/2006/relationships/font" Target="fonts/Lato-italic.fntdata"/><Relationship Id="rId27" Type="http://schemas.openxmlformats.org/officeDocument/2006/relationships/font" Target="fonts/Lat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Lat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LatoLight-bold.fntdata"/><Relationship Id="rId30" Type="http://schemas.openxmlformats.org/officeDocument/2006/relationships/font" Target="fonts/LatoLight-regular.fntdata"/><Relationship Id="rId11" Type="http://schemas.openxmlformats.org/officeDocument/2006/relationships/slide" Target="slides/slide6.xml"/><Relationship Id="rId33" Type="http://schemas.openxmlformats.org/officeDocument/2006/relationships/font" Target="fonts/LatoLight-boldItalic.fntdata"/><Relationship Id="rId10" Type="http://schemas.openxmlformats.org/officeDocument/2006/relationships/slide" Target="slides/slide5.xml"/><Relationship Id="rId32" Type="http://schemas.openxmlformats.org/officeDocument/2006/relationships/font" Target="fonts/LatoLight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aseda.app.box.com/s/elnhhnezdycn2q2zp4fe0f2t1fvse5rn" TargetMode="Externa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csdl-downloads.ieeecomputer.org/mags/co/1975/05/01649428.pdf?Expires=1690219610&amp;Policy=eyJTdGF0ZW1lbnQiOlt7IlJlc291cmNlIjoiaHR0cHM6Ly9jc2RsLWRvd25sb2Fkcy5pZWVlY29tcHV0ZXIub3JnL21hZ3MvY28vMTk3NS8wNS8wMTY0OTQyOC5wZGYiLCJDb25kaXRpb24iOnsiRGF0ZUxlc3NUaGFuIjp7IkFXUzpFcG9jaFRpbWUiOjE2OTAyMTk2MTB9fX1dfQ__&amp;Signature=O86M9V1DRI1BrRn0buiYCh3Ok4FGkhdQWIUjmzDj9VmCwD2qJaH1piXtI4z-FL86dN3IPBpkJR4bpTsgoM~uz6kBXlkEbEZ3~Q6Tax92jDz97XOH0z0~syLNsnQC6oFbPgsgkYabpnXUt~x1ARI6~pMmFvxqw-A4WEf-TMm-awbxMKK4tGM3eUKLqrIcFEIL4yGBJ6n9hhE93fsng0jq7lC8pMhS5rv8r94g6iZ8cPAgOxTnfRv~Cc1Rdok2XXlgcEmNlNY4nOs4-rgfXSWLuVtIELkrYfcyU503ZhOVq2pMsnnr65W0Wd5O0gA09iJcJ74hWWUZqxEJ1LAeCKJz1g__&amp;Key-Pair-Id=K12PMWTCQBDMDT" TargetMode="Externa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1f5a554dbf_0_4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1f5a554dbf_0_4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e99b2dff3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e99b2dff3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e519b88542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e519b88542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SWEBOK - </a:t>
            </a:r>
            <a:r>
              <a:rPr lang="en" u="sng">
                <a:solidFill>
                  <a:schemeClr val="hlink"/>
                </a:solidFill>
                <a:hlinkClick r:id="rId2"/>
              </a:rPr>
              <a:t>https://waseda.app.box.com/s/elnhhnezdycn2q2zp4fe0f2t1fvse5rn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1e519b88542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1e519b88542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Software Engineering: Process, Principles, and Goals</a:t>
            </a:r>
            <a:r>
              <a:rPr lang="en"/>
              <a:t> - Ross, Goodenough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e99b2dff3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e99b2dff3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f5a554dbf_0_3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1f5a554dbf_0_3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1f5a554dbf_0_3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1f5a554dbf_0_3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e99b2dff3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e99b2dff3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e99b2dff3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e99b2dff3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e99b2dff3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e99b2dff3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e99b2dff3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e99b2dff3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e99b2dff3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e99b2dff3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e99b2dff3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e99b2dff3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e99b2dff3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e99b2dff3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e99b2dff3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e99b2dff3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Software portability: https://developerexperience.io/articles/software-portability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e99b2dff3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e99b2dff3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e99b2dff3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e99b2dff3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2ef7de1d389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2ef7de1d389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e99b2dff3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3e99b2dff3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e99b2dff3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3e99b2dff3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://www.youtube.com/watch?v=YZi7Gb5rK4U" TargetMode="External"/><Relationship Id="rId4" Type="http://schemas.openxmlformats.org/officeDocument/2006/relationships/image" Target="../media/image3.jpg"/><Relationship Id="rId5" Type="http://schemas.openxmlformats.org/officeDocument/2006/relationships/image" Target="../media/image8.png"/><Relationship Id="rId6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pn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7.png"/><Relationship Id="rId4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7.png"/><Relationship Id="rId4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7.png"/><Relationship Id="rId4" Type="http://schemas.openxmlformats.org/officeDocument/2006/relationships/image" Target="../media/image10.png"/><Relationship Id="rId5" Type="http://schemas.openxmlformats.org/officeDocument/2006/relationships/image" Target="../media/image16.png"/><Relationship Id="rId6" Type="http://schemas.openxmlformats.org/officeDocument/2006/relationships/image" Target="../media/image12.png"/><Relationship Id="rId7" Type="http://schemas.openxmlformats.org/officeDocument/2006/relationships/image" Target="../media/image11.png"/><Relationship Id="rId8" Type="http://schemas.openxmlformats.org/officeDocument/2006/relationships/image" Target="../media/image1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 rotWithShape="1">
          <a:blip r:embed="rId3">
            <a:alphaModFix/>
          </a:blip>
          <a:srcRect b="0" l="0" r="0" t="60663"/>
          <a:stretch/>
        </p:blipFill>
        <p:spPr>
          <a:xfrm>
            <a:off x="0" y="2574324"/>
            <a:ext cx="9143999" cy="25692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/>
          <p:nvPr/>
        </p:nvSpPr>
        <p:spPr>
          <a:xfrm>
            <a:off x="0" y="0"/>
            <a:ext cx="9144000" cy="2572500"/>
          </a:xfrm>
          <a:prstGeom prst="rect">
            <a:avLst/>
          </a:prstGeom>
          <a:solidFill>
            <a:srgbClr val="C6D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3"/>
          <p:cNvSpPr/>
          <p:nvPr/>
        </p:nvSpPr>
        <p:spPr>
          <a:xfrm rot="-156123">
            <a:off x="2153842" y="1143655"/>
            <a:ext cx="4546388" cy="3211212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>
            <a:noFill/>
          </a:ln>
          <a:effectLst>
            <a:outerShdw blurRad="228600" rotWithShape="0" algn="tl" dir="5400000" dist="50800">
              <a:srgbClr val="000000">
                <a:alpha val="549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3"/>
          <p:cNvSpPr/>
          <p:nvPr/>
        </p:nvSpPr>
        <p:spPr>
          <a:xfrm>
            <a:off x="2306212" y="991287"/>
            <a:ext cx="4546500" cy="321120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>
            <a:noFill/>
          </a:ln>
          <a:effectLst>
            <a:outerShdw blurRad="228600" rotWithShape="0" algn="tl" dir="5400000" dist="50800">
              <a:srgbClr val="000000">
                <a:alpha val="549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8" name="Google Shape;58;p13"/>
          <p:cNvGrpSpPr/>
          <p:nvPr/>
        </p:nvGrpSpPr>
        <p:grpSpPr>
          <a:xfrm rot="-468310">
            <a:off x="2195941" y="816811"/>
            <a:ext cx="4752129" cy="3509874"/>
            <a:chOff x="2163405" y="1008757"/>
            <a:chExt cx="4752300" cy="3510000"/>
          </a:xfrm>
        </p:grpSpPr>
        <p:sp>
          <p:nvSpPr>
            <p:cNvPr id="59" name="Google Shape;59;p13"/>
            <p:cNvSpPr/>
            <p:nvPr/>
          </p:nvSpPr>
          <p:spPr>
            <a:xfrm rot="231561">
              <a:off x="2266400" y="1158111"/>
              <a:ext cx="4546310" cy="3211293"/>
            </a:xfrm>
            <a:prstGeom prst="roundRect">
              <a:avLst>
                <a:gd fmla="val 0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228600" rotWithShape="0" algn="tl" dir="5400000" dist="50800">
                <a:srgbClr val="000000">
                  <a:alpha val="549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13"/>
            <p:cNvSpPr txBox="1"/>
            <p:nvPr/>
          </p:nvSpPr>
          <p:spPr>
            <a:xfrm rot="243249">
              <a:off x="2569162" y="1283539"/>
              <a:ext cx="3190985" cy="14824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>
                  <a:solidFill>
                    <a:srgbClr val="434343"/>
                  </a:solidFill>
                  <a:latin typeface="Lato"/>
                  <a:ea typeface="Lato"/>
                  <a:cs typeface="Lato"/>
                  <a:sym typeface="Lato"/>
                </a:rPr>
                <a:t>Diseño de Software</a:t>
              </a:r>
              <a:endParaRPr sz="3000">
                <a:solidFill>
                  <a:srgbClr val="434343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61" name="Google Shape;61;p13"/>
            <p:cNvSpPr txBox="1"/>
            <p:nvPr/>
          </p:nvSpPr>
          <p:spPr>
            <a:xfrm rot="243112">
              <a:off x="2514043" y="2698555"/>
              <a:ext cx="2649322" cy="6384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999999"/>
                  </a:solidFill>
                  <a:latin typeface="Lato"/>
                  <a:ea typeface="Lato"/>
                  <a:cs typeface="Lato"/>
                  <a:sym typeface="Lato"/>
                </a:rPr>
                <a:t>Análisis y Diseño de Sistemas 2</a:t>
              </a:r>
              <a:endParaRPr sz="1200">
                <a:solidFill>
                  <a:srgbClr val="999999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9674" y="-152400"/>
            <a:ext cx="7621625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4"/>
          <p:cNvSpPr txBox="1"/>
          <p:nvPr/>
        </p:nvSpPr>
        <p:spPr>
          <a:xfrm>
            <a:off x="7891300" y="4641300"/>
            <a:ext cx="9780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SWEBOK v3</a:t>
            </a:r>
            <a:endParaRPr sz="1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/>
        </p:nvSpPr>
        <p:spPr>
          <a:xfrm>
            <a:off x="7468450" y="4641300"/>
            <a:ext cx="14007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SWEBOK v4</a:t>
            </a:r>
            <a:r>
              <a:rPr lang="en" sz="1000">
                <a:solidFill>
                  <a:srgbClr val="FF0000"/>
                </a:solidFill>
              </a:rPr>
              <a:t> - draft</a:t>
            </a:r>
            <a:endParaRPr sz="1000">
              <a:solidFill>
                <a:srgbClr val="FF0000"/>
              </a:solidFill>
            </a:endParaRPr>
          </a:p>
        </p:txBody>
      </p:sp>
      <p:pic>
        <p:nvPicPr>
          <p:cNvPr id="73" name="Google Shape;7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8" cy="42413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title"/>
          </p:nvPr>
        </p:nvSpPr>
        <p:spPr>
          <a:xfrm>
            <a:off x="311700" y="445025"/>
            <a:ext cx="2974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 Thinking</a:t>
            </a:r>
            <a:endParaRPr/>
          </a:p>
        </p:txBody>
      </p:sp>
      <p:pic>
        <p:nvPicPr>
          <p:cNvPr descr="El proceso de Design Thinking consiste en 5 etapas, dividas en dos partes fundamentales: encontrar el problema y pensar soluciones. &#10;&#10;En el Curso de Design Thinking con Minds Garage de Platzi te llevaremos paso a paso para que aprendas a empatizar con tus usuarios, detectar oportunidades, generar ideas, crear prototipos e iterar hasta lograr el impacto deseado. Entra ya a https://platzi.com/think&#10;&#10;PlatziLab." id="79" name="Google Shape;79;p16" title="Aprende con Platzi | Las 5 etapas del Design Thinking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69350" y="2646361"/>
            <a:ext cx="4299475" cy="2418464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69350" y="59475"/>
            <a:ext cx="4299475" cy="2438425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6"/>
          <p:cNvSpPr txBox="1"/>
          <p:nvPr/>
        </p:nvSpPr>
        <p:spPr>
          <a:xfrm>
            <a:off x="341975" y="1204350"/>
            <a:ext cx="3754800" cy="35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Cristalizar el propósito o el objetivo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Formular el concepto de cómo se puede alcanzar el objetivo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Visualizar un mecanismo que implemente la estructura conceptual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Introducir una notación para expresar la capacidades del mecanismo y como invocar su uso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Describir el uso de la notación en un contexto específico del problema para invocar el mecanismo para alcanzar el propósito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						</a:t>
            </a:r>
            <a:r>
              <a:rPr b="1" lang="en" sz="1000"/>
              <a:t>SWEBOK v4</a:t>
            </a:r>
            <a:endParaRPr b="1" sz="1000"/>
          </a:p>
        </p:txBody>
      </p:sp>
      <p:pic>
        <p:nvPicPr>
          <p:cNvPr id="82" name="Google Shape;82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5963" y="4264875"/>
            <a:ext cx="3209925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6"/>
          <p:cNvSpPr/>
          <p:nvPr/>
        </p:nvSpPr>
        <p:spPr>
          <a:xfrm>
            <a:off x="423750" y="1263800"/>
            <a:ext cx="342000" cy="535200"/>
          </a:xfrm>
          <a:prstGeom prst="bracePair">
            <a:avLst/>
          </a:prstGeom>
          <a:noFill/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9900FF"/>
              </a:solidFill>
            </a:endParaRPr>
          </a:p>
        </p:txBody>
      </p:sp>
      <p:sp>
        <p:nvSpPr>
          <p:cNvPr id="84" name="Google Shape;84;p16"/>
          <p:cNvSpPr/>
          <p:nvPr/>
        </p:nvSpPr>
        <p:spPr>
          <a:xfrm>
            <a:off x="423750" y="1906850"/>
            <a:ext cx="342000" cy="1364100"/>
          </a:xfrm>
          <a:prstGeom prst="bracePair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00FF"/>
              </a:solidFill>
            </a:endParaRPr>
          </a:p>
        </p:txBody>
      </p:sp>
      <p:sp>
        <p:nvSpPr>
          <p:cNvPr id="85" name="Google Shape;85;p16"/>
          <p:cNvSpPr txBox="1"/>
          <p:nvPr/>
        </p:nvSpPr>
        <p:spPr>
          <a:xfrm rot="-5400000">
            <a:off x="-165300" y="1362325"/>
            <a:ext cx="73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FF00FF"/>
                </a:solidFill>
              </a:rPr>
              <a:t>Entender el problema</a:t>
            </a:r>
            <a:endParaRPr sz="700">
              <a:solidFill>
                <a:srgbClr val="FF00FF"/>
              </a:solidFill>
            </a:endParaRPr>
          </a:p>
        </p:txBody>
      </p:sp>
      <p:sp>
        <p:nvSpPr>
          <p:cNvPr id="86" name="Google Shape;86;p16"/>
          <p:cNvSpPr txBox="1"/>
          <p:nvPr/>
        </p:nvSpPr>
        <p:spPr>
          <a:xfrm rot="-5400000">
            <a:off x="-515250" y="2388200"/>
            <a:ext cx="1430700" cy="40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0000FF"/>
                </a:solidFill>
              </a:rPr>
              <a:t>Visualizar una solución</a:t>
            </a:r>
            <a:endParaRPr sz="300">
              <a:solidFill>
                <a:srgbClr val="0000FF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/>
          <p:nvPr>
            <p:ph type="title"/>
          </p:nvPr>
        </p:nvSpPr>
        <p:spPr>
          <a:xfrm>
            <a:off x="311700" y="1493850"/>
            <a:ext cx="8520600" cy="14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Principios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Diseño de Software</a:t>
            </a:r>
            <a:endParaRPr/>
          </a:p>
        </p:txBody>
      </p:sp>
      <p:sp>
        <p:nvSpPr>
          <p:cNvPr id="92" name="Google Shape;92;p17"/>
          <p:cNvSpPr txBox="1"/>
          <p:nvPr/>
        </p:nvSpPr>
        <p:spPr>
          <a:xfrm>
            <a:off x="1158900" y="428725"/>
            <a:ext cx="22308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Encapsulamiento y ocultamiento de información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7"/>
          <p:cNvSpPr txBox="1"/>
          <p:nvPr/>
        </p:nvSpPr>
        <p:spPr>
          <a:xfrm>
            <a:off x="247875" y="1956075"/>
            <a:ext cx="2056500" cy="9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Separación de interfaces e implementación</a:t>
            </a:r>
            <a:endParaRPr/>
          </a:p>
        </p:txBody>
      </p:sp>
      <p:sp>
        <p:nvSpPr>
          <p:cNvPr id="94" name="Google Shape;94;p17"/>
          <p:cNvSpPr txBox="1"/>
          <p:nvPr/>
        </p:nvSpPr>
        <p:spPr>
          <a:xfrm>
            <a:off x="1031650" y="3619625"/>
            <a:ext cx="21303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Separación de intereses</a:t>
            </a:r>
            <a:endParaRPr/>
          </a:p>
        </p:txBody>
      </p:sp>
      <p:sp>
        <p:nvSpPr>
          <p:cNvPr id="95" name="Google Shape;95;p17"/>
          <p:cNvSpPr txBox="1"/>
          <p:nvPr/>
        </p:nvSpPr>
        <p:spPr>
          <a:xfrm>
            <a:off x="4186775" y="4072925"/>
            <a:ext cx="26730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Descomposición y modularización</a:t>
            </a:r>
            <a:endParaRPr/>
          </a:p>
        </p:txBody>
      </p:sp>
      <p:sp>
        <p:nvSpPr>
          <p:cNvPr id="96" name="Google Shape;96;p17"/>
          <p:cNvSpPr txBox="1"/>
          <p:nvPr/>
        </p:nvSpPr>
        <p:spPr>
          <a:xfrm>
            <a:off x="7067325" y="3510225"/>
            <a:ext cx="18690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Dependencia y cohesión</a:t>
            </a:r>
            <a:endParaRPr/>
          </a:p>
        </p:txBody>
      </p:sp>
      <p:sp>
        <p:nvSpPr>
          <p:cNvPr id="97" name="Google Shape;97;p17"/>
          <p:cNvSpPr txBox="1"/>
          <p:nvPr/>
        </p:nvSpPr>
        <p:spPr>
          <a:xfrm>
            <a:off x="7455875" y="1956075"/>
            <a:ext cx="12795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Herencia</a:t>
            </a:r>
            <a:endParaRPr/>
          </a:p>
        </p:txBody>
      </p:sp>
      <p:sp>
        <p:nvSpPr>
          <p:cNvPr id="98" name="Google Shape;98;p17"/>
          <p:cNvSpPr txBox="1"/>
          <p:nvPr/>
        </p:nvSpPr>
        <p:spPr>
          <a:xfrm>
            <a:off x="6859775" y="730175"/>
            <a:ext cx="11724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Abstracción</a:t>
            </a:r>
            <a:endParaRPr/>
          </a:p>
        </p:txBody>
      </p:sp>
      <p:sp>
        <p:nvSpPr>
          <p:cNvPr id="99" name="Google Shape;99;p17"/>
          <p:cNvSpPr txBox="1"/>
          <p:nvPr/>
        </p:nvSpPr>
        <p:spPr>
          <a:xfrm>
            <a:off x="4267200" y="214375"/>
            <a:ext cx="13464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Polimorfismo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8"/>
          <p:cNvPicPr preferRelativeResize="0"/>
          <p:nvPr/>
        </p:nvPicPr>
        <p:blipFill rotWithShape="1">
          <a:blip r:embed="rId3">
            <a:alphaModFix/>
          </a:blip>
          <a:srcRect b="0" l="0" r="0" t="60663"/>
          <a:stretch/>
        </p:blipFill>
        <p:spPr>
          <a:xfrm>
            <a:off x="0" y="2574324"/>
            <a:ext cx="9143999" cy="2569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8"/>
          <p:cNvSpPr/>
          <p:nvPr/>
        </p:nvSpPr>
        <p:spPr>
          <a:xfrm>
            <a:off x="0" y="0"/>
            <a:ext cx="9144000" cy="2569200"/>
          </a:xfrm>
          <a:prstGeom prst="rect">
            <a:avLst/>
          </a:prstGeom>
          <a:solidFill>
            <a:srgbClr val="C6D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8"/>
          <p:cNvSpPr/>
          <p:nvPr/>
        </p:nvSpPr>
        <p:spPr>
          <a:xfrm rot="-253875">
            <a:off x="2473986" y="1079912"/>
            <a:ext cx="4196137" cy="2963381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>
            <a:noFill/>
          </a:ln>
          <a:effectLst>
            <a:outerShdw blurRad="228600" rotWithShape="0" algn="tl" dir="5400000" dist="50800">
              <a:srgbClr val="000000">
                <a:alpha val="549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8"/>
          <p:cNvSpPr txBox="1"/>
          <p:nvPr/>
        </p:nvSpPr>
        <p:spPr>
          <a:xfrm>
            <a:off x="3827050" y="1585625"/>
            <a:ext cx="2818800" cy="3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8"/>
          <p:cNvSpPr/>
          <p:nvPr/>
        </p:nvSpPr>
        <p:spPr>
          <a:xfrm rot="240567">
            <a:off x="2474124" y="1089936"/>
            <a:ext cx="4196170" cy="2963438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>
            <a:noFill/>
          </a:ln>
          <a:effectLst>
            <a:outerShdw blurRad="228600" rotWithShape="0" algn="tl" dir="5400000" dist="50800">
              <a:srgbClr val="000000">
                <a:alpha val="549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8"/>
          <p:cNvSpPr txBox="1"/>
          <p:nvPr/>
        </p:nvSpPr>
        <p:spPr>
          <a:xfrm rot="240484">
            <a:off x="2686660" y="1876245"/>
            <a:ext cx="3771173" cy="139086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rgbClr val="434343"/>
                </a:solidFill>
                <a:latin typeface="Lato Light"/>
                <a:ea typeface="Lato Light"/>
                <a:cs typeface="Lato Light"/>
                <a:sym typeface="Lato Light"/>
              </a:rPr>
              <a:t>Abstracción</a:t>
            </a:r>
            <a:endParaRPr sz="4800">
              <a:solidFill>
                <a:srgbClr val="434343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10" name="Google Shape;110;p18"/>
          <p:cNvSpPr txBox="1"/>
          <p:nvPr/>
        </p:nvSpPr>
        <p:spPr>
          <a:xfrm rot="240484">
            <a:off x="2627203" y="3152921"/>
            <a:ext cx="3771173" cy="534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999999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9"/>
          <p:cNvPicPr preferRelativeResize="0"/>
          <p:nvPr/>
        </p:nvPicPr>
        <p:blipFill rotWithShape="1">
          <a:blip r:embed="rId3">
            <a:alphaModFix/>
          </a:blip>
          <a:srcRect b="0" l="0" r="0" t="60663"/>
          <a:stretch/>
        </p:blipFill>
        <p:spPr>
          <a:xfrm>
            <a:off x="0" y="2574324"/>
            <a:ext cx="9143999" cy="2569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9"/>
          <p:cNvSpPr/>
          <p:nvPr/>
        </p:nvSpPr>
        <p:spPr>
          <a:xfrm>
            <a:off x="0" y="0"/>
            <a:ext cx="9144000" cy="25692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9"/>
          <p:cNvSpPr txBox="1"/>
          <p:nvPr/>
        </p:nvSpPr>
        <p:spPr>
          <a:xfrm>
            <a:off x="3827050" y="1585625"/>
            <a:ext cx="2818800" cy="3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9"/>
          <p:cNvSpPr/>
          <p:nvPr/>
        </p:nvSpPr>
        <p:spPr>
          <a:xfrm rot="-253875">
            <a:off x="678411" y="307312"/>
            <a:ext cx="4196137" cy="2963381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>
            <a:noFill/>
          </a:ln>
          <a:effectLst>
            <a:outerShdw blurRad="228600" rotWithShape="0" algn="tl" dir="5400000" dist="50800">
              <a:srgbClr val="000000">
                <a:alpha val="549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9"/>
          <p:cNvSpPr txBox="1"/>
          <p:nvPr/>
        </p:nvSpPr>
        <p:spPr>
          <a:xfrm rot="-254022">
            <a:off x="890918" y="687910"/>
            <a:ext cx="3771090" cy="20160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999999"/>
                </a:solidFill>
                <a:latin typeface="Lato Light"/>
                <a:ea typeface="Lato Light"/>
                <a:cs typeface="Lato Light"/>
                <a:sym typeface="Lato Light"/>
              </a:rPr>
              <a:t>Ver un objeto </a:t>
            </a:r>
            <a:r>
              <a:rPr lang="en" sz="3000">
                <a:solidFill>
                  <a:srgbClr val="999999"/>
                </a:solidFill>
                <a:latin typeface="Lato Light"/>
                <a:ea typeface="Lato Light"/>
                <a:cs typeface="Lato Light"/>
                <a:sym typeface="Lato Light"/>
              </a:rPr>
              <a:t>enfocándose</a:t>
            </a:r>
            <a:r>
              <a:rPr lang="en" sz="3000">
                <a:solidFill>
                  <a:srgbClr val="999999"/>
                </a:solidFill>
                <a:latin typeface="Lato Light"/>
                <a:ea typeface="Lato Light"/>
                <a:cs typeface="Lato Light"/>
                <a:sym typeface="Lato Light"/>
              </a:rPr>
              <a:t> en la información más relevante e ignora el resto de información</a:t>
            </a:r>
            <a:endParaRPr sz="3000">
              <a:solidFill>
                <a:srgbClr val="999999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pic>
        <p:nvPicPr>
          <p:cNvPr id="120" name="Google Shape;120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78800" y="2885600"/>
            <a:ext cx="5734050" cy="213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20"/>
          <p:cNvPicPr preferRelativeResize="0"/>
          <p:nvPr/>
        </p:nvPicPr>
        <p:blipFill rotWithShape="1">
          <a:blip r:embed="rId3">
            <a:alphaModFix/>
          </a:blip>
          <a:srcRect b="0" l="0" r="0" t="60663"/>
          <a:stretch/>
        </p:blipFill>
        <p:spPr>
          <a:xfrm>
            <a:off x="0" y="2574324"/>
            <a:ext cx="9143999" cy="2569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0"/>
          <p:cNvSpPr/>
          <p:nvPr/>
        </p:nvSpPr>
        <p:spPr>
          <a:xfrm>
            <a:off x="0" y="0"/>
            <a:ext cx="9144000" cy="2569200"/>
          </a:xfrm>
          <a:prstGeom prst="rect">
            <a:avLst/>
          </a:prstGeom>
          <a:solidFill>
            <a:srgbClr val="C6D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0"/>
          <p:cNvSpPr/>
          <p:nvPr/>
        </p:nvSpPr>
        <p:spPr>
          <a:xfrm rot="-253875">
            <a:off x="2473986" y="1079912"/>
            <a:ext cx="4196137" cy="2963381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>
            <a:noFill/>
          </a:ln>
          <a:effectLst>
            <a:outerShdw blurRad="228600" rotWithShape="0" algn="tl" dir="5400000" dist="50800">
              <a:srgbClr val="000000">
                <a:alpha val="549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20"/>
          <p:cNvSpPr txBox="1"/>
          <p:nvPr/>
        </p:nvSpPr>
        <p:spPr>
          <a:xfrm>
            <a:off x="3827050" y="1585625"/>
            <a:ext cx="2818800" cy="3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20"/>
          <p:cNvSpPr/>
          <p:nvPr/>
        </p:nvSpPr>
        <p:spPr>
          <a:xfrm rot="240567">
            <a:off x="2474124" y="1089936"/>
            <a:ext cx="4196170" cy="2963438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>
            <a:noFill/>
          </a:ln>
          <a:effectLst>
            <a:outerShdw blurRad="228600" rotWithShape="0" algn="tl" dir="5400000" dist="50800">
              <a:srgbClr val="000000">
                <a:alpha val="549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20"/>
          <p:cNvSpPr txBox="1"/>
          <p:nvPr/>
        </p:nvSpPr>
        <p:spPr>
          <a:xfrm rot="240578">
            <a:off x="2686665" y="1876299"/>
            <a:ext cx="3771231" cy="139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rgbClr val="434343"/>
                </a:solidFill>
                <a:latin typeface="Lato Light"/>
                <a:ea typeface="Lato Light"/>
                <a:cs typeface="Lato Light"/>
                <a:sym typeface="Lato Light"/>
              </a:rPr>
              <a:t>Polimorfismo</a:t>
            </a:r>
            <a:endParaRPr sz="4800">
              <a:solidFill>
                <a:srgbClr val="434343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31" name="Google Shape;131;p20"/>
          <p:cNvSpPr txBox="1"/>
          <p:nvPr/>
        </p:nvSpPr>
        <p:spPr>
          <a:xfrm rot="240578">
            <a:off x="2627134" y="3152970"/>
            <a:ext cx="3771231" cy="534717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999999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21"/>
          <p:cNvPicPr preferRelativeResize="0"/>
          <p:nvPr/>
        </p:nvPicPr>
        <p:blipFill rotWithShape="1">
          <a:blip r:embed="rId3">
            <a:alphaModFix/>
          </a:blip>
          <a:srcRect b="0" l="0" r="0" t="60663"/>
          <a:stretch/>
        </p:blipFill>
        <p:spPr>
          <a:xfrm>
            <a:off x="0" y="2574324"/>
            <a:ext cx="9143999" cy="2569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1"/>
          <p:cNvSpPr/>
          <p:nvPr/>
        </p:nvSpPr>
        <p:spPr>
          <a:xfrm>
            <a:off x="0" y="0"/>
            <a:ext cx="9144000" cy="25692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21"/>
          <p:cNvSpPr txBox="1"/>
          <p:nvPr/>
        </p:nvSpPr>
        <p:spPr>
          <a:xfrm>
            <a:off x="3827050" y="1585625"/>
            <a:ext cx="2818800" cy="3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21"/>
          <p:cNvSpPr/>
          <p:nvPr/>
        </p:nvSpPr>
        <p:spPr>
          <a:xfrm rot="-253875">
            <a:off x="1172011" y="1015537"/>
            <a:ext cx="4196137" cy="2963381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>
            <a:noFill/>
          </a:ln>
          <a:effectLst>
            <a:outerShdw blurRad="228600" rotWithShape="0" algn="tl" dir="5400000" dist="50800">
              <a:srgbClr val="000000">
                <a:alpha val="549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21"/>
          <p:cNvSpPr txBox="1"/>
          <p:nvPr/>
        </p:nvSpPr>
        <p:spPr>
          <a:xfrm rot="-254022">
            <a:off x="1384618" y="1489135"/>
            <a:ext cx="3771090" cy="20160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999999"/>
                </a:solidFill>
                <a:latin typeface="Lato Light"/>
                <a:ea typeface="Lato Light"/>
                <a:cs typeface="Lato Light"/>
                <a:sym typeface="Lato Light"/>
              </a:rPr>
              <a:t>Proceso de representar una forma en múltiples formas</a:t>
            </a:r>
            <a:endParaRPr sz="3000">
              <a:solidFill>
                <a:srgbClr val="999999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pic>
        <p:nvPicPr>
          <p:cNvPr id="141" name="Google Shape;141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09989" y="-81050"/>
            <a:ext cx="2734009" cy="273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09993" y="2569200"/>
            <a:ext cx="2780620" cy="256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" y="3553301"/>
            <a:ext cx="1590225" cy="1590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2"/>
          <p:cNvPicPr preferRelativeResize="0"/>
          <p:nvPr/>
        </p:nvPicPr>
        <p:blipFill rotWithShape="1">
          <a:blip r:embed="rId3">
            <a:alphaModFix/>
          </a:blip>
          <a:srcRect b="0" l="0" r="0" t="60663"/>
          <a:stretch/>
        </p:blipFill>
        <p:spPr>
          <a:xfrm>
            <a:off x="0" y="2574324"/>
            <a:ext cx="9143999" cy="2569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22"/>
          <p:cNvSpPr/>
          <p:nvPr/>
        </p:nvSpPr>
        <p:spPr>
          <a:xfrm>
            <a:off x="0" y="0"/>
            <a:ext cx="9144000" cy="2569200"/>
          </a:xfrm>
          <a:prstGeom prst="rect">
            <a:avLst/>
          </a:prstGeom>
          <a:solidFill>
            <a:srgbClr val="C6D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22"/>
          <p:cNvSpPr/>
          <p:nvPr/>
        </p:nvSpPr>
        <p:spPr>
          <a:xfrm rot="-253875">
            <a:off x="2473986" y="1079912"/>
            <a:ext cx="4196137" cy="2963381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>
            <a:noFill/>
          </a:ln>
          <a:effectLst>
            <a:outerShdw blurRad="228600" rotWithShape="0" algn="tl" dir="5400000" dist="50800">
              <a:srgbClr val="000000">
                <a:alpha val="549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2"/>
          <p:cNvSpPr txBox="1"/>
          <p:nvPr/>
        </p:nvSpPr>
        <p:spPr>
          <a:xfrm>
            <a:off x="3827050" y="1585625"/>
            <a:ext cx="2818800" cy="3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22"/>
          <p:cNvSpPr/>
          <p:nvPr/>
        </p:nvSpPr>
        <p:spPr>
          <a:xfrm rot="240567">
            <a:off x="2474124" y="1089936"/>
            <a:ext cx="4196170" cy="2963438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>
            <a:noFill/>
          </a:ln>
          <a:effectLst>
            <a:outerShdw blurRad="228600" rotWithShape="0" algn="tl" dir="5400000" dist="50800">
              <a:srgbClr val="000000">
                <a:alpha val="549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22"/>
          <p:cNvSpPr txBox="1"/>
          <p:nvPr/>
        </p:nvSpPr>
        <p:spPr>
          <a:xfrm rot="240578">
            <a:off x="2686665" y="1876299"/>
            <a:ext cx="3771231" cy="139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rgbClr val="434343"/>
                </a:solidFill>
                <a:latin typeface="Lato Light"/>
                <a:ea typeface="Lato Light"/>
                <a:cs typeface="Lato Light"/>
                <a:sym typeface="Lato Light"/>
              </a:rPr>
              <a:t>Encapsular y Ocultar información</a:t>
            </a:r>
            <a:endParaRPr sz="4800">
              <a:solidFill>
                <a:srgbClr val="434343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54" name="Google Shape;154;p22"/>
          <p:cNvSpPr txBox="1"/>
          <p:nvPr/>
        </p:nvSpPr>
        <p:spPr>
          <a:xfrm rot="240578">
            <a:off x="2627134" y="3152970"/>
            <a:ext cx="3771231" cy="534717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999999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23"/>
          <p:cNvPicPr preferRelativeResize="0"/>
          <p:nvPr/>
        </p:nvPicPr>
        <p:blipFill rotWithShape="1">
          <a:blip r:embed="rId3">
            <a:alphaModFix/>
          </a:blip>
          <a:srcRect b="0" l="0" r="0" t="60663"/>
          <a:stretch/>
        </p:blipFill>
        <p:spPr>
          <a:xfrm>
            <a:off x="0" y="2574324"/>
            <a:ext cx="9143999" cy="2569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23"/>
          <p:cNvSpPr/>
          <p:nvPr/>
        </p:nvSpPr>
        <p:spPr>
          <a:xfrm>
            <a:off x="0" y="0"/>
            <a:ext cx="9144000" cy="25692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23"/>
          <p:cNvSpPr txBox="1"/>
          <p:nvPr/>
        </p:nvSpPr>
        <p:spPr>
          <a:xfrm>
            <a:off x="3827050" y="1585625"/>
            <a:ext cx="2818800" cy="3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23"/>
          <p:cNvSpPr/>
          <p:nvPr/>
        </p:nvSpPr>
        <p:spPr>
          <a:xfrm rot="-253875">
            <a:off x="428011" y="378837"/>
            <a:ext cx="4196137" cy="2963381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>
            <a:noFill/>
          </a:ln>
          <a:effectLst>
            <a:outerShdw blurRad="228600" rotWithShape="0" algn="tl" dir="5400000" dist="50800">
              <a:srgbClr val="000000">
                <a:alpha val="549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23"/>
          <p:cNvSpPr txBox="1"/>
          <p:nvPr/>
        </p:nvSpPr>
        <p:spPr>
          <a:xfrm rot="-254022">
            <a:off x="640618" y="852435"/>
            <a:ext cx="3771090" cy="20160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999999"/>
                </a:solidFill>
                <a:latin typeface="Lato Light"/>
                <a:ea typeface="Lato Light"/>
                <a:cs typeface="Lato Light"/>
                <a:sym typeface="Lato Light"/>
              </a:rPr>
              <a:t>Agrupar y empacar los detalles internos de una </a:t>
            </a:r>
            <a:r>
              <a:rPr lang="en" sz="3000">
                <a:solidFill>
                  <a:srgbClr val="999999"/>
                </a:solidFill>
                <a:latin typeface="Lato Light"/>
                <a:ea typeface="Lato Light"/>
                <a:cs typeface="Lato Light"/>
                <a:sym typeface="Lato Light"/>
              </a:rPr>
              <a:t>abstracción</a:t>
            </a:r>
            <a:r>
              <a:rPr lang="en" sz="3000">
                <a:solidFill>
                  <a:srgbClr val="999999"/>
                </a:solidFill>
                <a:latin typeface="Lato Light"/>
                <a:ea typeface="Lato Light"/>
                <a:cs typeface="Lato Light"/>
                <a:sym typeface="Lato Light"/>
              </a:rPr>
              <a:t> y hacer esos detalles inaccesibles a entidades externas</a:t>
            </a:r>
            <a:endParaRPr sz="3000">
              <a:solidFill>
                <a:srgbClr val="999999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pic>
        <p:nvPicPr>
          <p:cNvPr id="164" name="Google Shape;164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92376" y="1829075"/>
            <a:ext cx="4751625" cy="331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4"/>
          <p:cNvPicPr preferRelativeResize="0"/>
          <p:nvPr/>
        </p:nvPicPr>
        <p:blipFill rotWithShape="1">
          <a:blip r:embed="rId3">
            <a:alphaModFix/>
          </a:blip>
          <a:srcRect b="0" l="0" r="0" t="60663"/>
          <a:stretch/>
        </p:blipFill>
        <p:spPr>
          <a:xfrm>
            <a:off x="0" y="2574324"/>
            <a:ext cx="9143999" cy="2569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4"/>
          <p:cNvSpPr/>
          <p:nvPr/>
        </p:nvSpPr>
        <p:spPr>
          <a:xfrm>
            <a:off x="0" y="0"/>
            <a:ext cx="9144000" cy="2569200"/>
          </a:xfrm>
          <a:prstGeom prst="rect">
            <a:avLst/>
          </a:prstGeom>
          <a:solidFill>
            <a:srgbClr val="C6D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24"/>
          <p:cNvSpPr/>
          <p:nvPr/>
        </p:nvSpPr>
        <p:spPr>
          <a:xfrm rot="-253875">
            <a:off x="2473986" y="1079912"/>
            <a:ext cx="4196137" cy="2963381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>
            <a:noFill/>
          </a:ln>
          <a:effectLst>
            <a:outerShdw blurRad="228600" rotWithShape="0" algn="tl" dir="5400000" dist="50800">
              <a:srgbClr val="000000">
                <a:alpha val="549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24"/>
          <p:cNvSpPr txBox="1"/>
          <p:nvPr/>
        </p:nvSpPr>
        <p:spPr>
          <a:xfrm>
            <a:off x="3827050" y="1585625"/>
            <a:ext cx="2818800" cy="3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24"/>
          <p:cNvSpPr/>
          <p:nvPr/>
        </p:nvSpPr>
        <p:spPr>
          <a:xfrm rot="240567">
            <a:off x="2474124" y="1089936"/>
            <a:ext cx="4196170" cy="2963438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>
            <a:noFill/>
          </a:ln>
          <a:effectLst>
            <a:outerShdw blurRad="228600" rotWithShape="0" algn="tl" dir="5400000" dist="50800">
              <a:srgbClr val="000000">
                <a:alpha val="549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24"/>
          <p:cNvSpPr txBox="1"/>
          <p:nvPr/>
        </p:nvSpPr>
        <p:spPr>
          <a:xfrm rot="240578">
            <a:off x="2686665" y="1876299"/>
            <a:ext cx="3771231" cy="139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rgbClr val="434343"/>
                </a:solidFill>
                <a:latin typeface="Lato Light"/>
                <a:ea typeface="Lato Light"/>
                <a:cs typeface="Lato Light"/>
                <a:sym typeface="Lato Light"/>
              </a:rPr>
              <a:t>Acoplamiento y Cohesión</a:t>
            </a:r>
            <a:endParaRPr sz="4800">
              <a:solidFill>
                <a:srgbClr val="434343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75" name="Google Shape;175;p24"/>
          <p:cNvSpPr txBox="1"/>
          <p:nvPr/>
        </p:nvSpPr>
        <p:spPr>
          <a:xfrm rot="240578">
            <a:off x="2627134" y="3152970"/>
            <a:ext cx="3771231" cy="534717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999999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Google Shape;180;p25"/>
          <p:cNvPicPr preferRelativeResize="0"/>
          <p:nvPr/>
        </p:nvPicPr>
        <p:blipFill rotWithShape="1">
          <a:blip r:embed="rId3">
            <a:alphaModFix/>
          </a:blip>
          <a:srcRect b="0" l="0" r="0" t="60663"/>
          <a:stretch/>
        </p:blipFill>
        <p:spPr>
          <a:xfrm>
            <a:off x="0" y="2574324"/>
            <a:ext cx="9143999" cy="2569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5"/>
          <p:cNvSpPr/>
          <p:nvPr/>
        </p:nvSpPr>
        <p:spPr>
          <a:xfrm>
            <a:off x="0" y="0"/>
            <a:ext cx="9144000" cy="25692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25"/>
          <p:cNvSpPr txBox="1"/>
          <p:nvPr/>
        </p:nvSpPr>
        <p:spPr>
          <a:xfrm>
            <a:off x="3827050" y="1585625"/>
            <a:ext cx="2818800" cy="3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25"/>
          <p:cNvSpPr/>
          <p:nvPr/>
        </p:nvSpPr>
        <p:spPr>
          <a:xfrm rot="-253875">
            <a:off x="206261" y="221462"/>
            <a:ext cx="4196137" cy="2963381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>
            <a:noFill/>
          </a:ln>
          <a:effectLst>
            <a:outerShdw blurRad="228600" rotWithShape="0" algn="tl" dir="5400000" dist="50800">
              <a:srgbClr val="000000">
                <a:alpha val="549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25"/>
          <p:cNvSpPr txBox="1"/>
          <p:nvPr/>
        </p:nvSpPr>
        <p:spPr>
          <a:xfrm rot="-254022">
            <a:off x="418868" y="695060"/>
            <a:ext cx="3771090" cy="20160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999999"/>
                </a:solidFill>
                <a:latin typeface="Lato"/>
                <a:ea typeface="Lato"/>
                <a:cs typeface="Lato"/>
                <a:sym typeface="Lato"/>
              </a:rPr>
              <a:t>Acoplamiento:</a:t>
            </a:r>
            <a:r>
              <a:rPr lang="en" sz="3000">
                <a:solidFill>
                  <a:srgbClr val="999999"/>
                </a:solidFill>
                <a:latin typeface="Lato Light"/>
                <a:ea typeface="Lato Light"/>
                <a:cs typeface="Lato Light"/>
                <a:sym typeface="Lato Light"/>
              </a:rPr>
              <a:t> medida de interdependencia</a:t>
            </a:r>
            <a:endParaRPr sz="3000">
              <a:solidFill>
                <a:srgbClr val="999999"/>
              </a:solidFill>
              <a:latin typeface="Lato Light"/>
              <a:ea typeface="Lato Light"/>
              <a:cs typeface="Lato Light"/>
              <a:sym typeface="Lato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999999"/>
                </a:solidFill>
                <a:latin typeface="Lato"/>
                <a:ea typeface="Lato"/>
                <a:cs typeface="Lato"/>
                <a:sym typeface="Lato"/>
              </a:rPr>
              <a:t>Cohesión</a:t>
            </a:r>
            <a:r>
              <a:rPr lang="en" sz="3000">
                <a:solidFill>
                  <a:srgbClr val="999999"/>
                </a:solidFill>
                <a:latin typeface="Lato Light"/>
                <a:ea typeface="Lato Light"/>
                <a:cs typeface="Lato Light"/>
                <a:sym typeface="Lato Light"/>
              </a:rPr>
              <a:t>: Medida de fuerza entre los elementos</a:t>
            </a:r>
            <a:endParaRPr sz="3000">
              <a:solidFill>
                <a:srgbClr val="999999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pic>
        <p:nvPicPr>
          <p:cNvPr id="185" name="Google Shape;185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63750" y="2454625"/>
            <a:ext cx="4780250" cy="26888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p26"/>
          <p:cNvPicPr preferRelativeResize="0"/>
          <p:nvPr/>
        </p:nvPicPr>
        <p:blipFill rotWithShape="1">
          <a:blip r:embed="rId3">
            <a:alphaModFix/>
          </a:blip>
          <a:srcRect b="0" l="0" r="0" t="60663"/>
          <a:stretch/>
        </p:blipFill>
        <p:spPr>
          <a:xfrm>
            <a:off x="0" y="2574324"/>
            <a:ext cx="9143999" cy="25692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6"/>
          <p:cNvSpPr/>
          <p:nvPr/>
        </p:nvSpPr>
        <p:spPr>
          <a:xfrm>
            <a:off x="0" y="0"/>
            <a:ext cx="9144000" cy="2569200"/>
          </a:xfrm>
          <a:prstGeom prst="rect">
            <a:avLst/>
          </a:prstGeom>
          <a:solidFill>
            <a:srgbClr val="C6D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26"/>
          <p:cNvSpPr/>
          <p:nvPr/>
        </p:nvSpPr>
        <p:spPr>
          <a:xfrm rot="-253875">
            <a:off x="2473986" y="1079912"/>
            <a:ext cx="4196137" cy="2963381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>
            <a:noFill/>
          </a:ln>
          <a:effectLst>
            <a:outerShdw blurRad="228600" rotWithShape="0" algn="tl" dir="5400000" dist="50800">
              <a:srgbClr val="000000">
                <a:alpha val="549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26"/>
          <p:cNvSpPr txBox="1"/>
          <p:nvPr/>
        </p:nvSpPr>
        <p:spPr>
          <a:xfrm>
            <a:off x="3827050" y="1585625"/>
            <a:ext cx="2818800" cy="3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26"/>
          <p:cNvSpPr/>
          <p:nvPr/>
        </p:nvSpPr>
        <p:spPr>
          <a:xfrm rot="240567">
            <a:off x="2474124" y="1089936"/>
            <a:ext cx="4196170" cy="2963438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>
            <a:noFill/>
          </a:ln>
          <a:effectLst>
            <a:outerShdw blurRad="228600" rotWithShape="0" algn="tl" dir="5400000" dist="50800">
              <a:srgbClr val="000000">
                <a:alpha val="549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26"/>
          <p:cNvSpPr txBox="1"/>
          <p:nvPr/>
        </p:nvSpPr>
        <p:spPr>
          <a:xfrm rot="240578">
            <a:off x="2686665" y="1876299"/>
            <a:ext cx="3771231" cy="139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434343"/>
                </a:solidFill>
                <a:latin typeface="Lato Light"/>
                <a:ea typeface="Lato Light"/>
                <a:cs typeface="Lato Light"/>
                <a:sym typeface="Lato Light"/>
              </a:rPr>
              <a:t>Descomposición y Modularidad</a:t>
            </a:r>
            <a:endParaRPr sz="3600">
              <a:solidFill>
                <a:srgbClr val="434343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96" name="Google Shape;196;p26"/>
          <p:cNvSpPr txBox="1"/>
          <p:nvPr/>
        </p:nvSpPr>
        <p:spPr>
          <a:xfrm rot="240578">
            <a:off x="2627134" y="3152970"/>
            <a:ext cx="3771231" cy="534717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999999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p27"/>
          <p:cNvPicPr preferRelativeResize="0"/>
          <p:nvPr/>
        </p:nvPicPr>
        <p:blipFill rotWithShape="1">
          <a:blip r:embed="rId3">
            <a:alphaModFix/>
          </a:blip>
          <a:srcRect b="0" l="0" r="0" t="60663"/>
          <a:stretch/>
        </p:blipFill>
        <p:spPr>
          <a:xfrm>
            <a:off x="0" y="2574324"/>
            <a:ext cx="9143999" cy="25692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7"/>
          <p:cNvSpPr/>
          <p:nvPr/>
        </p:nvSpPr>
        <p:spPr>
          <a:xfrm>
            <a:off x="0" y="0"/>
            <a:ext cx="9144000" cy="25692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27"/>
          <p:cNvSpPr txBox="1"/>
          <p:nvPr/>
        </p:nvSpPr>
        <p:spPr>
          <a:xfrm>
            <a:off x="3827050" y="1585625"/>
            <a:ext cx="2818800" cy="3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27"/>
          <p:cNvSpPr/>
          <p:nvPr/>
        </p:nvSpPr>
        <p:spPr>
          <a:xfrm rot="-250475">
            <a:off x="352911" y="220710"/>
            <a:ext cx="4005728" cy="2790622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>
            <a:noFill/>
          </a:ln>
          <a:effectLst>
            <a:outerShdw blurRad="228600" rotWithShape="0" algn="tl" dir="5400000" dist="50800">
              <a:srgbClr val="000000">
                <a:alpha val="549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27"/>
          <p:cNvSpPr txBox="1"/>
          <p:nvPr/>
        </p:nvSpPr>
        <p:spPr>
          <a:xfrm rot="-250607">
            <a:off x="555937" y="666693"/>
            <a:ext cx="3599961" cy="189863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999999"/>
                </a:solidFill>
                <a:latin typeface="Lato Light"/>
                <a:ea typeface="Lato Light"/>
                <a:cs typeface="Lato Light"/>
                <a:sym typeface="Lato Light"/>
              </a:rPr>
              <a:t>Programas grandes son divididos en varios componentes con interfaces bien definidas</a:t>
            </a:r>
            <a:endParaRPr sz="3000">
              <a:solidFill>
                <a:srgbClr val="999999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206" name="Google Shape;206;p27"/>
          <p:cNvSpPr/>
          <p:nvPr/>
        </p:nvSpPr>
        <p:spPr>
          <a:xfrm rot="-253621">
            <a:off x="4999127" y="385568"/>
            <a:ext cx="1489652" cy="1146725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>
            <a:noFill/>
          </a:ln>
          <a:effectLst>
            <a:outerShdw blurRad="228600" rotWithShape="0" algn="tl" dir="5400000" dist="50800">
              <a:srgbClr val="000000">
                <a:alpha val="549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Extensibilidad</a:t>
            </a:r>
            <a:endParaRPr/>
          </a:p>
        </p:txBody>
      </p:sp>
      <p:sp>
        <p:nvSpPr>
          <p:cNvPr id="207" name="Google Shape;207;p27"/>
          <p:cNvSpPr/>
          <p:nvPr/>
        </p:nvSpPr>
        <p:spPr>
          <a:xfrm rot="-253621">
            <a:off x="5305352" y="2001293"/>
            <a:ext cx="1489652" cy="1146725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>
            <a:noFill/>
          </a:ln>
          <a:effectLst>
            <a:outerShdw blurRad="228600" rotWithShape="0" algn="tl" dir="5400000" dist="50800">
              <a:srgbClr val="000000">
                <a:alpha val="549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Reusabilidad</a:t>
            </a:r>
            <a:endParaRPr/>
          </a:p>
        </p:txBody>
      </p:sp>
      <p:sp>
        <p:nvSpPr>
          <p:cNvPr id="208" name="Google Shape;208;p27"/>
          <p:cNvSpPr/>
          <p:nvPr/>
        </p:nvSpPr>
        <p:spPr>
          <a:xfrm rot="-253621">
            <a:off x="3470477" y="3254693"/>
            <a:ext cx="1489652" cy="1146725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>
            <a:noFill/>
          </a:ln>
          <a:effectLst>
            <a:outerShdw blurRad="228600" rotWithShape="0" algn="tl" dir="5400000" dist="50800">
              <a:srgbClr val="000000">
                <a:alpha val="549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Compatibilidad</a:t>
            </a:r>
            <a:endParaRPr/>
          </a:p>
        </p:txBody>
      </p:sp>
      <p:sp>
        <p:nvSpPr>
          <p:cNvPr id="209" name="Google Shape;209;p27"/>
          <p:cNvSpPr/>
          <p:nvPr/>
        </p:nvSpPr>
        <p:spPr>
          <a:xfrm rot="-253883">
            <a:off x="377925" y="3380623"/>
            <a:ext cx="1394601" cy="956601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>
            <a:noFill/>
          </a:ln>
          <a:effectLst>
            <a:outerShdw blurRad="228600" rotWithShape="0" algn="tl" dir="5400000" dist="50800">
              <a:srgbClr val="000000">
                <a:alpha val="549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Portabilidad</a:t>
            </a:r>
            <a:endParaRPr/>
          </a:p>
        </p:txBody>
      </p:sp>
      <p:pic>
        <p:nvPicPr>
          <p:cNvPr id="210" name="Google Shape;210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9600" y="4233773"/>
            <a:ext cx="1081050" cy="81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66312" y="3784326"/>
            <a:ext cx="1493088" cy="1163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27"/>
          <p:cNvPicPr preferRelativeResize="0"/>
          <p:nvPr/>
        </p:nvPicPr>
        <p:blipFill rotWithShape="1">
          <a:blip r:embed="rId6">
            <a:alphaModFix/>
          </a:blip>
          <a:srcRect b="0" l="0" r="0" t="13427"/>
          <a:stretch/>
        </p:blipFill>
        <p:spPr>
          <a:xfrm>
            <a:off x="4958846" y="3499275"/>
            <a:ext cx="1853429" cy="1604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2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1060230">
            <a:off x="6835275" y="2169287"/>
            <a:ext cx="1493100" cy="13299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2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 rot="1039237">
            <a:off x="6574409" y="321175"/>
            <a:ext cx="1289866" cy="1163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28"/>
          <p:cNvPicPr preferRelativeResize="0"/>
          <p:nvPr/>
        </p:nvPicPr>
        <p:blipFill rotWithShape="1">
          <a:blip r:embed="rId3">
            <a:alphaModFix/>
          </a:blip>
          <a:srcRect b="0" l="0" r="0" t="60663"/>
          <a:stretch/>
        </p:blipFill>
        <p:spPr>
          <a:xfrm>
            <a:off x="0" y="2574324"/>
            <a:ext cx="9143999" cy="256920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8"/>
          <p:cNvSpPr/>
          <p:nvPr/>
        </p:nvSpPr>
        <p:spPr>
          <a:xfrm>
            <a:off x="0" y="0"/>
            <a:ext cx="9144000" cy="2569200"/>
          </a:xfrm>
          <a:prstGeom prst="rect">
            <a:avLst/>
          </a:prstGeom>
          <a:solidFill>
            <a:srgbClr val="C6D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28"/>
          <p:cNvSpPr/>
          <p:nvPr/>
        </p:nvSpPr>
        <p:spPr>
          <a:xfrm rot="-253875">
            <a:off x="2473986" y="1079912"/>
            <a:ext cx="4196137" cy="2963381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>
            <a:noFill/>
          </a:ln>
          <a:effectLst>
            <a:outerShdw blurRad="228600" rotWithShape="0" algn="tl" dir="5400000" dist="50800">
              <a:srgbClr val="000000">
                <a:alpha val="549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8"/>
          <p:cNvSpPr txBox="1"/>
          <p:nvPr/>
        </p:nvSpPr>
        <p:spPr>
          <a:xfrm>
            <a:off x="3827050" y="1585625"/>
            <a:ext cx="2818800" cy="3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28"/>
          <p:cNvSpPr/>
          <p:nvPr/>
        </p:nvSpPr>
        <p:spPr>
          <a:xfrm rot="240567">
            <a:off x="2474124" y="1089936"/>
            <a:ext cx="4196170" cy="2963438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>
            <a:noFill/>
          </a:ln>
          <a:effectLst>
            <a:outerShdw blurRad="228600" rotWithShape="0" algn="tl" dir="5400000" dist="50800">
              <a:srgbClr val="000000">
                <a:alpha val="549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28"/>
          <p:cNvSpPr txBox="1"/>
          <p:nvPr/>
        </p:nvSpPr>
        <p:spPr>
          <a:xfrm rot="240578">
            <a:off x="2686665" y="1876299"/>
            <a:ext cx="3771231" cy="139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rgbClr val="434343"/>
                </a:solidFill>
                <a:latin typeface="Lato Light"/>
                <a:ea typeface="Lato Light"/>
                <a:cs typeface="Lato Light"/>
                <a:sym typeface="Lato Light"/>
              </a:rPr>
              <a:t>Separación de Intereses</a:t>
            </a:r>
            <a:endParaRPr sz="4800">
              <a:solidFill>
                <a:srgbClr val="434343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225" name="Google Shape;225;p28"/>
          <p:cNvSpPr txBox="1"/>
          <p:nvPr/>
        </p:nvSpPr>
        <p:spPr>
          <a:xfrm rot="240578">
            <a:off x="2627134" y="3152970"/>
            <a:ext cx="3771231" cy="534717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999999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29"/>
          <p:cNvPicPr preferRelativeResize="0"/>
          <p:nvPr/>
        </p:nvPicPr>
        <p:blipFill rotWithShape="1">
          <a:blip r:embed="rId3">
            <a:alphaModFix/>
          </a:blip>
          <a:srcRect b="0" l="0" r="0" t="60663"/>
          <a:stretch/>
        </p:blipFill>
        <p:spPr>
          <a:xfrm>
            <a:off x="0" y="2574324"/>
            <a:ext cx="9143999" cy="256920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9"/>
          <p:cNvSpPr/>
          <p:nvPr/>
        </p:nvSpPr>
        <p:spPr>
          <a:xfrm>
            <a:off x="0" y="0"/>
            <a:ext cx="9144000" cy="25692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9"/>
          <p:cNvSpPr txBox="1"/>
          <p:nvPr/>
        </p:nvSpPr>
        <p:spPr>
          <a:xfrm>
            <a:off x="3827050" y="1585625"/>
            <a:ext cx="2818800" cy="3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29"/>
          <p:cNvSpPr/>
          <p:nvPr/>
        </p:nvSpPr>
        <p:spPr>
          <a:xfrm rot="-253875">
            <a:off x="2473986" y="1079912"/>
            <a:ext cx="4196137" cy="2963381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>
            <a:noFill/>
          </a:ln>
          <a:effectLst>
            <a:outerShdw blurRad="228600" rotWithShape="0" algn="tl" dir="5400000" dist="50800">
              <a:srgbClr val="000000">
                <a:alpha val="549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29"/>
          <p:cNvSpPr txBox="1"/>
          <p:nvPr/>
        </p:nvSpPr>
        <p:spPr>
          <a:xfrm rot="-254022">
            <a:off x="2686593" y="1553510"/>
            <a:ext cx="3771090" cy="20160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999999"/>
                </a:solidFill>
                <a:latin typeface="Lato Light"/>
                <a:ea typeface="Lato Light"/>
                <a:cs typeface="Lato Light"/>
                <a:sym typeface="Lato Light"/>
              </a:rPr>
              <a:t>Un</a:t>
            </a:r>
            <a:r>
              <a:rPr b="1" lang="en" sz="3000">
                <a:solidFill>
                  <a:srgbClr val="999999"/>
                </a:solidFill>
                <a:latin typeface="Lato"/>
                <a:ea typeface="Lato"/>
                <a:cs typeface="Lato"/>
                <a:sym typeface="Lato"/>
              </a:rPr>
              <a:t> interés</a:t>
            </a:r>
            <a:r>
              <a:rPr lang="en" sz="3000">
                <a:solidFill>
                  <a:srgbClr val="999999"/>
                </a:solidFill>
                <a:latin typeface="Lato Light"/>
                <a:ea typeface="Lato Light"/>
                <a:cs typeface="Lato Light"/>
                <a:sym typeface="Lato Light"/>
              </a:rPr>
              <a:t> de diseño es un área de diseño que es relevante a uno o más interesados</a:t>
            </a:r>
            <a:endParaRPr sz="3000">
              <a:solidFill>
                <a:srgbClr val="999999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Actividad en clase</a:t>
            </a:r>
            <a:endParaRPr/>
          </a:p>
        </p:txBody>
      </p:sp>
      <p:sp>
        <p:nvSpPr>
          <p:cNvPr id="240" name="Google Shape;240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En grupos, seleccionar 3 principios de diseño de los que acabamos de ver y escribir un ejemplo en software en donde se puede utilizar dicho principio de diseño. 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Guías de diseño</a:t>
            </a:r>
            <a:endParaRPr/>
          </a:p>
        </p:txBody>
      </p:sp>
      <p:sp>
        <p:nvSpPr>
          <p:cNvPr id="246" name="Google Shape;246;p3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</a:rPr>
              <a:t>Errores comunes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247" name="Google Shape;247;p3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Depth-first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Refinar requerimientos en tiempo de diseño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 considerar cambios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Detallar demasiado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Ambigüedad en el diseño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 documentar </a:t>
            </a:r>
            <a:r>
              <a:rPr lang="en"/>
              <a:t>decisiones</a:t>
            </a:r>
            <a:r>
              <a:rPr lang="en"/>
              <a:t> de diseño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Diseños inconsistentes (no integrados)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Guías de diseño</a:t>
            </a:r>
            <a:endParaRPr/>
          </a:p>
        </p:txBody>
      </p:sp>
      <p:sp>
        <p:nvSpPr>
          <p:cNvPr id="253" name="Google Shape;253;p3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</a:rPr>
              <a:t>Reglas???</a:t>
            </a:r>
            <a:endParaRPr>
              <a:solidFill>
                <a:srgbClr val="6AA84F"/>
              </a:solidFill>
            </a:endParaRPr>
          </a:p>
        </p:txBody>
      </p:sp>
      <p:sp>
        <p:nvSpPr>
          <p:cNvPr id="254" name="Google Shape;254;p32"/>
          <p:cNvSpPr txBox="1"/>
          <p:nvPr>
            <p:ph idx="2" type="body"/>
          </p:nvPr>
        </p:nvSpPr>
        <p:spPr>
          <a:xfrm>
            <a:off x="4939500" y="724075"/>
            <a:ext cx="3837000" cy="403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El problema está bien definido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El </a:t>
            </a:r>
            <a:r>
              <a:rPr b="1" lang="en"/>
              <a:t>qué</a:t>
            </a:r>
            <a:r>
              <a:rPr lang="en"/>
              <a:t> viene antes del </a:t>
            </a:r>
            <a:r>
              <a:rPr b="1" lang="en"/>
              <a:t>cómo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Separe intereses ortogonales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Diseñe funcionalidad externa antes de interna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KISS - La elegancia tiene más bugs que la simpleza, divide y vencerás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Trabajar en múltiples niveles de abstracción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Diseñe para extender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Utilice </a:t>
            </a:r>
            <a:r>
              <a:rPr b="1" lang="en"/>
              <a:t>patrones</a:t>
            </a:r>
            <a:r>
              <a:rPr lang="en"/>
              <a:t> para resolver problemas cuando sea posible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